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5"/>
  </p:notesMasterIdLst>
  <p:sldIdLst>
    <p:sldId id="256" r:id="rId2"/>
    <p:sldId id="303" r:id="rId3"/>
    <p:sldId id="309" r:id="rId4"/>
    <p:sldId id="353" r:id="rId5"/>
    <p:sldId id="348" r:id="rId6"/>
    <p:sldId id="273" r:id="rId7"/>
    <p:sldId id="257" r:id="rId8"/>
    <p:sldId id="258" r:id="rId9"/>
    <p:sldId id="259" r:id="rId10"/>
    <p:sldId id="260" r:id="rId11"/>
    <p:sldId id="301" r:id="rId12"/>
    <p:sldId id="274" r:id="rId13"/>
    <p:sldId id="263" r:id="rId14"/>
    <p:sldId id="290" r:id="rId15"/>
    <p:sldId id="295" r:id="rId16"/>
    <p:sldId id="264" r:id="rId17"/>
    <p:sldId id="265" r:id="rId18"/>
    <p:sldId id="354" r:id="rId19"/>
    <p:sldId id="294" r:id="rId20"/>
    <p:sldId id="266" r:id="rId21"/>
    <p:sldId id="267" r:id="rId22"/>
    <p:sldId id="361" r:id="rId23"/>
    <p:sldId id="357" r:id="rId24"/>
    <p:sldId id="355" r:id="rId25"/>
    <p:sldId id="356" r:id="rId26"/>
    <p:sldId id="358" r:id="rId27"/>
    <p:sldId id="293" r:id="rId28"/>
    <p:sldId id="310" r:id="rId29"/>
    <p:sldId id="302" r:id="rId30"/>
    <p:sldId id="292" r:id="rId31"/>
    <p:sldId id="362" r:id="rId32"/>
    <p:sldId id="304" r:id="rId33"/>
    <p:sldId id="305" r:id="rId34"/>
    <p:sldId id="306" r:id="rId35"/>
    <p:sldId id="359" r:id="rId36"/>
    <p:sldId id="360" r:id="rId37"/>
    <p:sldId id="275" r:id="rId38"/>
    <p:sldId id="269" r:id="rId39"/>
    <p:sldId id="278" r:id="rId40"/>
    <p:sldId id="271" r:id="rId41"/>
    <p:sldId id="289" r:id="rId42"/>
    <p:sldId id="367" r:id="rId43"/>
    <p:sldId id="368" r:id="rId44"/>
    <p:sldId id="369" r:id="rId45"/>
    <p:sldId id="282" r:id="rId46"/>
    <p:sldId id="283" r:id="rId47"/>
    <p:sldId id="284" r:id="rId48"/>
    <p:sldId id="279" r:id="rId49"/>
    <p:sldId id="280" r:id="rId50"/>
    <p:sldId id="281" r:id="rId51"/>
    <p:sldId id="363" r:id="rId52"/>
    <p:sldId id="364" r:id="rId53"/>
    <p:sldId id="365" r:id="rId54"/>
    <p:sldId id="296" r:id="rId55"/>
    <p:sldId id="297" r:id="rId56"/>
    <p:sldId id="298" r:id="rId57"/>
    <p:sldId id="299" r:id="rId58"/>
    <p:sldId id="300" r:id="rId59"/>
    <p:sldId id="370" r:id="rId60"/>
    <p:sldId id="371" r:id="rId61"/>
    <p:sldId id="372" r:id="rId62"/>
    <p:sldId id="373" r:id="rId63"/>
    <p:sldId id="285" r:id="rId64"/>
    <p:sldId id="286" r:id="rId65"/>
    <p:sldId id="287" r:id="rId66"/>
    <p:sldId id="270" r:id="rId67"/>
    <p:sldId id="366" r:id="rId68"/>
    <p:sldId id="272" r:id="rId69"/>
    <p:sldId id="276" r:id="rId70"/>
    <p:sldId id="277" r:id="rId71"/>
    <p:sldId id="307" r:id="rId72"/>
    <p:sldId id="308" r:id="rId73"/>
    <p:sldId id="291" r:id="rId74"/>
  </p:sldIdLst>
  <p:sldSz cx="9144000" cy="6858000" type="screen4x3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DBE598-89B9-49E0-96FF-611351A8E32F}">
          <p14:sldIdLst>
            <p14:sldId id="256"/>
            <p14:sldId id="303"/>
            <p14:sldId id="309"/>
            <p14:sldId id="353"/>
            <p14:sldId id="348"/>
          </p14:sldIdLst>
        </p14:section>
        <p14:section name="Introduction" id="{9520019F-0521-4B4C-9CC0-7E79DE0B2E01}">
          <p14:sldIdLst>
            <p14:sldId id="273"/>
            <p14:sldId id="257"/>
            <p14:sldId id="258"/>
            <p14:sldId id="259"/>
            <p14:sldId id="260"/>
            <p14:sldId id="301"/>
          </p14:sldIdLst>
        </p14:section>
        <p14:section name="Creating images" id="{C75D904B-D29C-4882-96E0-D063D26B6329}">
          <p14:sldIdLst>
            <p14:sldId id="274"/>
            <p14:sldId id="263"/>
            <p14:sldId id="290"/>
            <p14:sldId id="295"/>
            <p14:sldId id="264"/>
            <p14:sldId id="265"/>
            <p14:sldId id="354"/>
            <p14:sldId id="294"/>
            <p14:sldId id="266"/>
            <p14:sldId id="267"/>
            <p14:sldId id="361"/>
            <p14:sldId id="357"/>
            <p14:sldId id="355"/>
            <p14:sldId id="356"/>
            <p14:sldId id="358"/>
            <p14:sldId id="293"/>
            <p14:sldId id="310"/>
            <p14:sldId id="302"/>
            <p14:sldId id="292"/>
          </p14:sldIdLst>
        </p14:section>
        <p14:section name="hpccm" id="{9C5C937C-51EB-4384-8F29-6695FB3A3960}">
          <p14:sldIdLst>
            <p14:sldId id="362"/>
            <p14:sldId id="304"/>
            <p14:sldId id="305"/>
            <p14:sldId id="306"/>
            <p14:sldId id="359"/>
            <p14:sldId id="360"/>
          </p14:sldIdLst>
        </p14:section>
        <p14:section name="Using images" id="{5E20A28C-20F0-4BB4-B4EF-5C50D078FC9E}">
          <p14:sldIdLst>
            <p14:sldId id="275"/>
            <p14:sldId id="269"/>
            <p14:sldId id="278"/>
            <p14:sldId id="271"/>
            <p14:sldId id="289"/>
          </p14:sldIdLst>
        </p14:section>
        <p14:section name="Development" id="{A90536BE-1C5D-4B55-A6F5-283902624C4D}">
          <p14:sldIdLst>
            <p14:sldId id="367"/>
            <p14:sldId id="368"/>
            <p14:sldId id="369"/>
          </p14:sldIdLst>
        </p14:section>
        <p14:section name="Multithreaded applications" id="{F5043C2D-CA60-4D4A-9FAE-E67766F47E85}">
          <p14:sldIdLst>
            <p14:sldId id="282"/>
            <p14:sldId id="283"/>
            <p14:sldId id="284"/>
          </p14:sldIdLst>
        </p14:section>
        <p14:section name="Distributed applications" id="{B4515097-FBB7-45CE-A690-4769856D1B81}">
          <p14:sldIdLst>
            <p14:sldId id="279"/>
            <p14:sldId id="280"/>
            <p14:sldId id="281"/>
          </p14:sldIdLst>
        </p14:section>
        <p14:section name="GPUs" id="{E2F30F21-59CD-4478-8CDB-A2B2905987EF}">
          <p14:sldIdLst>
            <p14:sldId id="363"/>
            <p14:sldId id="364"/>
            <p14:sldId id="365"/>
          </p14:sldIdLst>
        </p14:section>
        <p14:section name="Services" id="{73BC88DB-DEAD-4A8C-B24B-311D00DBBC0A}">
          <p14:sldIdLst>
            <p14:sldId id="296"/>
            <p14:sldId id="297"/>
            <p14:sldId id="298"/>
            <p14:sldId id="299"/>
            <p14:sldId id="300"/>
          </p14:sldIdLst>
        </p14:section>
        <p14:section name="Modifying images" id="{E905122A-C14D-4C44-912A-C00B0F615727}">
          <p14:sldIdLst>
            <p14:sldId id="370"/>
            <p14:sldId id="371"/>
            <p14:sldId id="372"/>
            <p14:sldId id="373"/>
          </p14:sldIdLst>
        </p14:section>
        <p14:section name="Performance" id="{1D232FD6-D204-4223-84D0-EC32B6360BF3}">
          <p14:sldIdLst>
            <p14:sldId id="285"/>
            <p14:sldId id="286"/>
            <p14:sldId id="287"/>
            <p14:sldId id="270"/>
            <p14:sldId id="366"/>
          </p14:sldIdLst>
        </p14:section>
        <p14:section name="Conclusions" id="{BD187F37-5316-4956-98DF-2B94953326CB}">
          <p14:sldIdLst>
            <p14:sldId id="272"/>
            <p14:sldId id="276"/>
            <p14:sldId id="277"/>
          </p14:sldIdLst>
        </p14:section>
        <p14:section name="Appendices" id="{4F11D7B8-8248-4048-BFFA-6A39FFF2C19D}">
          <p14:sldIdLst>
            <p14:sldId id="307"/>
            <p14:sldId id="308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421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D974B4-F374-4E74-84D3-1EB7DBF32A2A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D91F2-F726-41D4-833A-7239283C17E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70827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ED91F2-F726-41D4-833A-7239283C17E0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10131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E747-842D-4EF3-8202-AC54FEC33061}" type="datetime1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4959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5CDE5-064C-4862-90E9-83B8FD778625}" type="datetime1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99087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345C-628E-463E-B8F7-69C25D344DF5}" type="datetime1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0504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4534-538C-4249-A635-8BB2B8486464}" type="datetime1">
              <a:rPr lang="nl-BE" smtClean="0"/>
              <a:t>2/10/2026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7744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71CB-8547-4C91-A3D5-012E6E8790E6}" type="datetime1">
              <a:rPr lang="nl-BE" smtClean="0"/>
              <a:t>2/10/2026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8804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5335F-FC99-4A2B-B87B-6AF6F3762B67}" type="datetime1">
              <a:rPr lang="nl-BE" smtClean="0"/>
              <a:t>2/10/2026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65835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1BA58-B677-4D21-BDCD-9DD1AEA8A328}" type="datetime1">
              <a:rPr lang="nl-BE" smtClean="0"/>
              <a:t>2/10/2026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2158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3BE8B-B89C-461B-89D1-D5BE33ADB6B9}" type="datetime1">
              <a:rPr lang="nl-BE" smtClean="0"/>
              <a:t>2/10/2026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32774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65485-0554-4482-9B9C-289893A0B56B}" type="datetime1">
              <a:rPr lang="nl-BE" smtClean="0"/>
              <a:t>2/10/2026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6939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21354-3381-4DF5-ABED-FDAFA2BAD3F8}" type="datetime1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31279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54B95-9964-4BBF-B171-A69413AB9FC5}" type="datetime1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40025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26CEC-AF8A-4096-9A53-521F7571A055}" type="datetime1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F399F-E3B5-4890-BC79-9BC8D4DF3F2D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69758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bit.ly/32UUdRM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" TargetMode="External"/><Relationship Id="rId2" Type="http://schemas.openxmlformats.org/officeDocument/2006/relationships/hyperlink" Target="https://sylabs.io/singularit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pptainer.org/" TargetMode="External"/><Relationship Id="rId4" Type="http://schemas.openxmlformats.org/officeDocument/2006/relationships/hyperlink" Target="https://github.com/NERSC/shifter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.sylabs.io/builder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hyperlink" Target="https://github.com/NVIDIA/hpc-container-maker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catalog.ngc.nvidia.com/orgs/nvidia/containers/nvhpc" TargetMode="External"/><Relationship Id="rId2" Type="http://schemas.openxmlformats.org/officeDocument/2006/relationships/hyperlink" Target="https://github.com/intel/oneapi-containers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instinct.docs.amd.com/projects/container-toolkit/" TargetMode="External"/><Relationship Id="rId2" Type="http://schemas.openxmlformats.org/officeDocument/2006/relationships/hyperlink" Target="https://catalog.ngc.nvidia.com/containers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hyperlink" Target="https://dvc.org/" TargetMode="External"/><Relationship Id="rId3" Type="http://schemas.openxmlformats.org/officeDocument/2006/relationships/hyperlink" Target="https://github.com/apptainer/apptainer" TargetMode="External"/><Relationship Id="rId7" Type="http://schemas.openxmlformats.org/officeDocument/2006/relationships/hyperlink" Target="https://www.hpcwire.com/2016/10/20/singularity-containers-easing-scientific-computing/?eid=328363607&amp;bid=1564782" TargetMode="External"/><Relationship Id="rId2" Type="http://schemas.openxmlformats.org/officeDocument/2006/relationships/hyperlink" Target="https://apptainer.org/doc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NVIDIA/hpc-container-maker/blob/master/docs/building_blocks.md" TargetMode="External"/><Relationship Id="rId5" Type="http://schemas.openxmlformats.org/officeDocument/2006/relationships/hyperlink" Target="https://github.com/NVIDIA/hpc-container-maker/blob/master/docs/primitives.md" TargetMode="External"/><Relationship Id="rId4" Type="http://schemas.openxmlformats.org/officeDocument/2006/relationships/hyperlink" Target="https://github.com/NVIDIA/hpc-container-maker" TargetMode="Externa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Containers for HPC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Geert Jan Bex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>
                <a:hlinkClick r:id="rId2"/>
              </a:rPr>
              <a:t>geertjan.bex@uhasselt.be</a:t>
            </a:r>
            <a:r>
              <a:rPr lang="en-US" dirty="0"/>
              <a:t>)</a:t>
            </a:r>
            <a:endParaRPr lang="nl-B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1</a:t>
            </a:fld>
            <a:endParaRPr lang="nl-BE" dirty="0"/>
          </a:p>
        </p:txBody>
      </p:sp>
      <p:sp>
        <p:nvSpPr>
          <p:cNvPr id="6" name="TextBox 5"/>
          <p:cNvSpPr txBox="1"/>
          <p:nvPr/>
        </p:nvSpPr>
        <p:spPr>
          <a:xfrm>
            <a:off x="892204" y="6009448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CF7DEC-17C8-FFD7-5C81-5CF58552E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224" y="1046566"/>
            <a:ext cx="208597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2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2</a:t>
            </a:fld>
            <a:endParaRPr lang="nl-BE" dirty="0"/>
          </a:p>
        </p:txBody>
      </p:sp>
      <p:sp>
        <p:nvSpPr>
          <p:cNvPr id="5" name="TextBox 4"/>
          <p:cNvSpPr txBox="1"/>
          <p:nvPr/>
        </p:nvSpPr>
        <p:spPr>
          <a:xfrm>
            <a:off x="2483789" y="5398936"/>
            <a:ext cx="41296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hlinkClick r:id="rId2"/>
              </a:rPr>
              <a:t>http://bit.ly/32UUdRM</a:t>
            </a:r>
            <a:r>
              <a:rPr lang="en-US" sz="3200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161" y="842838"/>
            <a:ext cx="4014912" cy="401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9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DA63DE-79C3-1664-D137-3450C51B6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3</a:t>
            </a:fld>
            <a:endParaRPr lang="nl-BE" dirty="0"/>
          </a:p>
        </p:txBody>
      </p:sp>
      <p:pic>
        <p:nvPicPr>
          <p:cNvPr id="4" name="Picture 3" descr="Qr code&#10;&#10;Description automatically generated">
            <a:extLst>
              <a:ext uri="{FF2B5EF4-FFF2-40B4-BE49-F238E27FC236}">
                <a16:creationId xmlns:a16="http://schemas.microsoft.com/office/drawing/2014/main" id="{045858B9-522D-F8D1-A73A-3C2E724E3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92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 I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Inline code fragments and file names are rendered as, e.g.,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hello_world.py</a:t>
            </a:r>
          </a:p>
          <a:p>
            <a:r>
              <a:rPr lang="en-US" dirty="0"/>
              <a:t>Longer code fragments are rendered as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Data files are rendered as</a:t>
            </a:r>
            <a:endParaRPr lang="nl-BE" dirty="0"/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fld id="{5A209D72-2E9D-49B0-8977-41DCCC66C0BB}" type="slidenum">
              <a:rPr lang="nl-BE" sz="90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685800">
                <a:defRPr/>
              </a:pPr>
              <a:t>4</a:t>
            </a:fld>
            <a:endParaRPr lang="nl-BE" sz="900" dirty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41731" y="3210022"/>
            <a:ext cx="3964066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135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#!/usr/bin/env python</a:t>
            </a:r>
          </a:p>
          <a:p>
            <a:pPr defTabSz="685800">
              <a:defRPr/>
            </a:pPr>
            <a:r>
              <a:rPr lang="en-US" sz="135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defTabSz="685800">
              <a:defRPr/>
            </a:pPr>
            <a:r>
              <a:rPr lang="en-US" sz="135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if __name__ == '__main__':</a:t>
            </a:r>
          </a:p>
          <a:p>
            <a:pPr defTabSz="685800">
              <a:defRPr/>
            </a:pPr>
            <a:r>
              <a:rPr lang="en-US" sz="135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print('hello world!')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1730" y="4748086"/>
            <a:ext cx="3964066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case dim temp</a:t>
            </a:r>
          </a:p>
          <a:p>
            <a:pPr defTabSz="68580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1 1 -0.5</a:t>
            </a:r>
          </a:p>
          <a:p>
            <a:pPr defTabSz="68580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2 1 0.0</a:t>
            </a:r>
          </a:p>
          <a:p>
            <a:pPr defTabSz="68580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3 1 0.5</a:t>
            </a:r>
          </a:p>
          <a:p>
            <a:pPr defTabSz="68580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4 2 -0.5</a:t>
            </a:r>
          </a:p>
          <a:p>
            <a:pPr defTabSz="685800">
              <a:defRPr/>
            </a:pPr>
            <a:r>
              <a:rPr lang="en-US" sz="12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133938" y="3470596"/>
            <a:ext cx="2717745" cy="2434613"/>
            <a:chOff x="1321249" y="3584213"/>
            <a:chExt cx="3623659" cy="3246151"/>
          </a:xfrm>
        </p:grpSpPr>
        <p:sp>
          <p:nvSpPr>
            <p:cNvPr id="7" name="Oval 6"/>
            <p:cNvSpPr/>
            <p:nvPr/>
          </p:nvSpPr>
          <p:spPr>
            <a:xfrm>
              <a:off x="1331640" y="6556848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nl-BE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9" name="Straight Arrow Connector 8"/>
            <p:cNvCxnSpPr>
              <a:stCxn id="10" idx="1"/>
              <a:endCxn id="7" idx="6"/>
            </p:cNvCxnSpPr>
            <p:nvPr/>
          </p:nvCxnSpPr>
          <p:spPr>
            <a:xfrm flipH="1">
              <a:off x="1691681" y="5873961"/>
              <a:ext cx="2016222" cy="819645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3707903" y="5535407"/>
              <a:ext cx="1237005" cy="67710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pPr defTabSz="685800">
                <a:defRPr/>
              </a:pPr>
              <a:r>
                <a:rPr lang="en-US" sz="1350" dirty="0">
                  <a:solidFill>
                    <a:prstClr val="black"/>
                  </a:solidFill>
                </a:rPr>
                <a:t>fragment</a:t>
              </a:r>
              <a:br>
                <a:rPr lang="en-US" sz="1350" dirty="0">
                  <a:solidFill>
                    <a:prstClr val="black"/>
                  </a:solidFill>
                </a:rPr>
              </a:br>
              <a:r>
                <a:rPr lang="en-US" sz="1350" dirty="0">
                  <a:solidFill>
                    <a:prstClr val="black"/>
                  </a:solidFill>
                </a:rPr>
                <a:t>not shown</a:t>
              </a:r>
              <a:endParaRPr lang="nl-BE" sz="1350" dirty="0">
                <a:solidFill>
                  <a:prstClr val="black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321249" y="3584213"/>
              <a:ext cx="360041" cy="27351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nl-BE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12" name="Straight Arrow Connector 11"/>
            <p:cNvCxnSpPr>
              <a:stCxn id="10" idx="1"/>
              <a:endCxn id="11" idx="6"/>
            </p:cNvCxnSpPr>
            <p:nvPr/>
          </p:nvCxnSpPr>
          <p:spPr>
            <a:xfrm flipH="1" flipV="1">
              <a:off x="1681290" y="3720972"/>
              <a:ext cx="2026613" cy="215299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428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Typographical conventions II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Shell commands are rendered as</a:t>
            </a:r>
          </a:p>
          <a:p>
            <a:endParaRPr lang="en-US" dirty="0"/>
          </a:p>
          <a:p>
            <a:pPr lvl="1"/>
            <a:r>
              <a:rPr lang="en-US" dirty="0"/>
              <a:t>Do </a:t>
            </a:r>
            <a:r>
              <a:rPr lang="en-US" i="1" dirty="0"/>
              <a:t>not</a:t>
            </a:r>
            <a:r>
              <a:rPr lang="en-US" dirty="0"/>
              <a:t> type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$</a:t>
            </a:r>
            <a:r>
              <a:rPr lang="en-US" dirty="0"/>
              <a:t>, it represents your shell prompt!</a:t>
            </a:r>
          </a:p>
          <a:p>
            <a:endParaRPr lang="en-US" dirty="0"/>
          </a:p>
          <a:p>
            <a:r>
              <a:rPr lang="en-US" dirty="0"/>
              <a:t>Good practice:</a:t>
            </a:r>
          </a:p>
          <a:p>
            <a:r>
              <a:rPr lang="en-US" dirty="0"/>
              <a:t>Bad practice:</a:t>
            </a:r>
          </a:p>
          <a:p>
            <a:r>
              <a:rPr lang="en-US" dirty="0"/>
              <a:t>(Potential) hazards/bugs:</a:t>
            </a:r>
          </a:p>
          <a:p>
            <a:r>
              <a:rPr lang="en-US" dirty="0"/>
              <a:t>Performance issue:</a:t>
            </a:r>
          </a:p>
          <a:p>
            <a:r>
              <a:rPr lang="en-US" dirty="0"/>
              <a:t>Warning: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141731" y="2276060"/>
            <a:ext cx="3414717" cy="30008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35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$  </a:t>
            </a:r>
            <a:r>
              <a:rPr lang="en-US" sz="135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apptainer</a:t>
            </a:r>
            <a:r>
              <a:rPr lang="en-US" sz="1350" b="1" dirty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inspect </a:t>
            </a:r>
            <a:r>
              <a:rPr lang="en-US" sz="1350" b="1" dirty="0" err="1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r_base.sif</a:t>
            </a:r>
            <a:endParaRPr lang="nl-BE" sz="1350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2A05A-A776-4391-ACD7-D6BC34D3145C}" type="slidenum">
              <a:rPr lang="nl-BE" smtClean="0"/>
              <a:t>5</a:t>
            </a:fld>
            <a:endParaRPr lang="nl-BE"/>
          </a:p>
        </p:txBody>
      </p:sp>
      <p:pic>
        <p:nvPicPr>
          <p:cNvPr id="6" name="Picture 2" descr="C:\Users\lucg5005\AppData\Local\Microsoft\Windows\Temporary Internet Files\Content.IE5\CWZUAEH4\lgi01a201309290600[1].jpg">
            <a:extLst>
              <a:ext uri="{FF2B5EF4-FFF2-40B4-BE49-F238E27FC236}">
                <a16:creationId xmlns:a16="http://schemas.microsoft.com/office/drawing/2014/main" id="{F0B1C861-027C-AE93-1BCB-962F1DBAB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149" y="4431075"/>
            <a:ext cx="424613" cy="4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3" descr="C:\Users\lucg5005\AppData\Local\Microsoft\Windows\Temporary Internet Files\Content.IE5\T8RCCH8G\cute_snail_by_gniyuhs-d4lvbji[1].png">
            <a:extLst>
              <a:ext uri="{FF2B5EF4-FFF2-40B4-BE49-F238E27FC236}">
                <a16:creationId xmlns:a16="http://schemas.microsoft.com/office/drawing/2014/main" id="{9955A620-341D-09A8-65FD-6BB630BAC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9089" y="4866756"/>
            <a:ext cx="594066" cy="594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aphic 8" descr="Warning with solid fill">
            <a:extLst>
              <a:ext uri="{FF2B5EF4-FFF2-40B4-BE49-F238E27FC236}">
                <a16:creationId xmlns:a16="http://schemas.microsoft.com/office/drawing/2014/main" id="{024A877E-0481-E081-DA6C-323BCC25DA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7858" y="5460822"/>
            <a:ext cx="486054" cy="486054"/>
          </a:xfrm>
          <a:prstGeom prst="rect">
            <a:avLst/>
          </a:prstGeom>
        </p:spPr>
      </p:pic>
      <p:pic>
        <p:nvPicPr>
          <p:cNvPr id="11" name="Graphic 10" descr="Thumbs up sign with solid fill">
            <a:extLst>
              <a:ext uri="{FF2B5EF4-FFF2-40B4-BE49-F238E27FC236}">
                <a16:creationId xmlns:a16="http://schemas.microsoft.com/office/drawing/2014/main" id="{CE1CDE01-821E-6748-0DC3-4FDB15D603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1355" y="3458144"/>
            <a:ext cx="543150" cy="543150"/>
          </a:xfrm>
          <a:prstGeom prst="rect">
            <a:avLst/>
          </a:prstGeom>
        </p:spPr>
      </p:pic>
      <p:pic>
        <p:nvPicPr>
          <p:cNvPr id="13" name="Graphic 12" descr="Thumbs Down with solid fill">
            <a:extLst>
              <a:ext uri="{FF2B5EF4-FFF2-40B4-BE49-F238E27FC236}">
                <a16:creationId xmlns:a16="http://schemas.microsoft.com/office/drawing/2014/main" id="{0BE55C85-E7E5-B333-4889-9C023DF91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41354" y="4059714"/>
            <a:ext cx="543151" cy="54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9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15557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Singularity originally developed by Berkeley Lab, now at </a:t>
            </a:r>
            <a:r>
              <a:rPr lang="en-US" dirty="0" err="1"/>
              <a:t>Sylabs</a:t>
            </a:r>
            <a:br>
              <a:rPr lang="en-US" dirty="0"/>
            </a:br>
            <a:r>
              <a:rPr lang="en-US" dirty="0">
                <a:hlinkClick r:id="rId2"/>
              </a:rPr>
              <a:t>https://sylabs.io/singularity/</a:t>
            </a:r>
            <a:endParaRPr lang="en-US" dirty="0"/>
          </a:p>
          <a:p>
            <a:r>
              <a:rPr lang="en-US" dirty="0"/>
              <a:t>Intended as HPC alternative to</a:t>
            </a:r>
          </a:p>
          <a:p>
            <a:pPr lvl="1"/>
            <a:r>
              <a:rPr lang="en-US" dirty="0"/>
              <a:t>Docker</a:t>
            </a:r>
            <a:br>
              <a:rPr lang="en-US" dirty="0"/>
            </a:br>
            <a:r>
              <a:rPr lang="en-US" dirty="0">
                <a:hlinkClick r:id="rId3"/>
              </a:rPr>
              <a:t>https://www.docker.com/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Shifter</a:t>
            </a:r>
            <a:br>
              <a:rPr lang="en-US" dirty="0"/>
            </a:br>
            <a:r>
              <a:rPr lang="en-US" dirty="0">
                <a:hlinkClick r:id="rId4"/>
              </a:rPr>
              <a:t>https://github.com/NERSC/shifter</a:t>
            </a:r>
            <a:r>
              <a:rPr lang="en-US" dirty="0"/>
              <a:t> </a:t>
            </a:r>
          </a:p>
          <a:p>
            <a:r>
              <a:rPr lang="en-US" dirty="0"/>
              <a:t>Open-source project: name change to </a:t>
            </a:r>
            <a:r>
              <a:rPr lang="en-US" dirty="0" err="1"/>
              <a:t>Apptainer</a:t>
            </a:r>
            <a:br>
              <a:rPr lang="en-US" dirty="0"/>
            </a:br>
            <a:r>
              <a:rPr lang="en-US" dirty="0">
                <a:hlinkClick r:id="rId5"/>
              </a:rPr>
              <a:t>https://apptainer.org/</a:t>
            </a:r>
            <a:r>
              <a:rPr lang="en-US" dirty="0"/>
              <a:t> 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7</a:t>
            </a:fld>
            <a:endParaRPr lang="nl-B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7F983B-06B8-82E5-960E-0F35700C8237}"/>
              </a:ext>
            </a:extLst>
          </p:cNvPr>
          <p:cNvSpPr/>
          <p:nvPr/>
        </p:nvSpPr>
        <p:spPr>
          <a:xfrm>
            <a:off x="6432072" y="5115464"/>
            <a:ext cx="1512858" cy="388188"/>
          </a:xfrm>
          <a:prstGeom prst="roundRect">
            <a:avLst/>
          </a:prstGeom>
          <a:solidFill>
            <a:srgbClr val="FFC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78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good: containers are useful</a:t>
            </a:r>
          </a:p>
          <a:p>
            <a:pPr lvl="1"/>
            <a:r>
              <a:rPr lang="en-US" dirty="0"/>
              <a:t>Some dependency chains are hard to resolve</a:t>
            </a:r>
          </a:p>
          <a:p>
            <a:pPr lvl="2"/>
            <a:r>
              <a:rPr lang="en-US" dirty="0"/>
              <a:t>X11 applications</a:t>
            </a:r>
          </a:p>
          <a:p>
            <a:pPr lvl="2"/>
            <a:r>
              <a:rPr lang="en-US" dirty="0"/>
              <a:t>32-bit applications</a:t>
            </a:r>
          </a:p>
          <a:p>
            <a:pPr lvl="1"/>
            <a:r>
              <a:rPr lang="en-US" dirty="0"/>
              <a:t>Portability of workflow across systems</a:t>
            </a:r>
          </a:p>
          <a:p>
            <a:pPr lvl="1"/>
            <a:r>
              <a:rPr lang="en-US" dirty="0"/>
              <a:t>Reproducibility</a:t>
            </a:r>
          </a:p>
          <a:p>
            <a:r>
              <a:rPr lang="en-US" dirty="0"/>
              <a:t>The bad: containers pose security risks</a:t>
            </a:r>
          </a:p>
          <a:p>
            <a:pPr lvl="1"/>
            <a:r>
              <a:rPr lang="en-US" dirty="0"/>
              <a:t>Escalating privileges</a:t>
            </a:r>
          </a:p>
          <a:p>
            <a:pPr lvl="1"/>
            <a:r>
              <a:rPr lang="en-US" dirty="0"/>
              <a:t>Access to entire file systems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5116041" y="5311239"/>
            <a:ext cx="245580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Enter </a:t>
            </a:r>
            <a:r>
              <a:rPr lang="en-US" sz="2800" dirty="0" err="1"/>
              <a:t>apptainer</a:t>
            </a:r>
            <a:endParaRPr lang="nl-BE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8060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Apptainer</a:t>
            </a:r>
            <a:r>
              <a:rPr lang="en-US" dirty="0"/>
              <a:t> architecture</a:t>
            </a:r>
            <a:endParaRPr lang="nl-BE" dirty="0"/>
          </a:p>
        </p:txBody>
      </p:sp>
      <p:pic>
        <p:nvPicPr>
          <p:cNvPr id="1026" name="Picture 2" descr="singularity-architecture_g-kurtz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1364069"/>
            <a:ext cx="8951783" cy="472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1706336" y="5184322"/>
            <a:ext cx="2816678" cy="342900"/>
          </a:xfrm>
          <a:prstGeom prst="roundRect">
            <a:avLst/>
          </a:prstGeom>
          <a:solidFill>
            <a:srgbClr val="00B050">
              <a:alpha val="25882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169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Apptainer</a:t>
            </a:r>
            <a:r>
              <a:rPr lang="en-US" dirty="0"/>
              <a:t> image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Single file, contains</a:t>
            </a:r>
          </a:p>
          <a:p>
            <a:pPr lvl="1"/>
            <a:r>
              <a:rPr lang="en-US" dirty="0"/>
              <a:t>OS components</a:t>
            </a:r>
          </a:p>
          <a:p>
            <a:pPr lvl="1"/>
            <a:r>
              <a:rPr lang="en-US" dirty="0"/>
              <a:t>System libraries</a:t>
            </a:r>
          </a:p>
          <a:p>
            <a:pPr lvl="1"/>
            <a:r>
              <a:rPr lang="en-US" dirty="0"/>
              <a:t>Application libraries</a:t>
            </a:r>
          </a:p>
          <a:p>
            <a:pPr lvl="1"/>
            <a:r>
              <a:rPr lang="en-US" dirty="0"/>
              <a:t>Applications</a:t>
            </a:r>
          </a:p>
          <a:p>
            <a:pPr lvl="1"/>
            <a:r>
              <a:rPr lang="en-US" dirty="0"/>
              <a:t>Data (possibly, but normally not)</a:t>
            </a:r>
          </a:p>
          <a:p>
            <a:r>
              <a:rPr lang="en-US" dirty="0"/>
              <a:t>Creation</a:t>
            </a:r>
          </a:p>
          <a:p>
            <a:pPr lvl="1"/>
            <a:r>
              <a:rPr lang="en-US" dirty="0"/>
              <a:t>On any machine, any (Linux) OS, may require root privileges</a:t>
            </a:r>
          </a:p>
          <a:p>
            <a:pPr lvl="1"/>
            <a:r>
              <a:rPr lang="en-US" dirty="0"/>
              <a:t>Remotely</a:t>
            </a:r>
          </a:p>
          <a:p>
            <a:r>
              <a:rPr lang="en-US" dirty="0"/>
              <a:t>Deployment</a:t>
            </a:r>
          </a:p>
          <a:p>
            <a:pPr lvl="1"/>
            <a:r>
              <a:rPr lang="en-US" dirty="0"/>
              <a:t>On any (Linux) machine, </a:t>
            </a:r>
            <a:r>
              <a:rPr lang="en-US" dirty="0" err="1"/>
              <a:t>apptainer</a:t>
            </a:r>
            <a:r>
              <a:rPr lang="en-US" dirty="0"/>
              <a:t> installed</a:t>
            </a:r>
          </a:p>
          <a:p>
            <a:pPr lvl="1"/>
            <a:r>
              <a:rPr lang="en-US" dirty="0"/>
              <a:t>No root privileges required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51605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apptainer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distribution's package manager</a:t>
            </a:r>
          </a:p>
          <a:p>
            <a:pPr lvl="1"/>
            <a:r>
              <a:rPr lang="en-US" dirty="0"/>
              <a:t>apt</a:t>
            </a:r>
          </a:p>
          <a:p>
            <a:pPr lvl="1"/>
            <a:r>
              <a:rPr lang="en-US" dirty="0"/>
              <a:t>yum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Build from source</a:t>
            </a:r>
          </a:p>
          <a:p>
            <a:pPr lvl="1"/>
            <a:r>
              <a:rPr lang="en-US" dirty="0"/>
              <a:t>Note: requires </a:t>
            </a:r>
            <a:r>
              <a:rPr lang="en-US" dirty="0" err="1"/>
              <a:t>squashfs</a:t>
            </a:r>
            <a:r>
              <a:rPr lang="en-US" dirty="0"/>
              <a:t>, fuse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11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75109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images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70164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file: bootstrap from distro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For, e.g., Ubuntu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focal: 20.04, bionic: 18.04, </a:t>
            </a:r>
            <a:r>
              <a:rPr lang="en-US" dirty="0" err="1"/>
              <a:t>xenial</a:t>
            </a:r>
            <a:r>
              <a:rPr lang="en-US" dirty="0"/>
              <a:t>: 16.04, trusty: 14.04</a:t>
            </a:r>
          </a:p>
          <a:p>
            <a:r>
              <a:rPr lang="en-US" dirty="0"/>
              <a:t>For, e.g., CentOS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586" y="2320386"/>
            <a:ext cx="6664004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BootStrap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debootstrap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OSVersion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focal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MirrorURL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: http://us.archive.ubuntu.com/ubuntu/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586" y="4473823"/>
            <a:ext cx="8456161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BootStrap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yum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OSVersion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: 7</a:t>
            </a: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MirrorURL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: http://mirror.centos.org/centos-7/7/os/$basearch/</a:t>
            </a: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yum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486150" y="1440288"/>
            <a:ext cx="2982359" cy="1017162"/>
            <a:chOff x="3486150" y="1440288"/>
            <a:chExt cx="2982359" cy="1017162"/>
          </a:xfrm>
        </p:grpSpPr>
        <p:sp>
          <p:nvSpPr>
            <p:cNvPr id="6" name="TextBox 5"/>
            <p:cNvSpPr txBox="1"/>
            <p:nvPr/>
          </p:nvSpPr>
          <p:spPr>
            <a:xfrm>
              <a:off x="3910693" y="1440288"/>
              <a:ext cx="25578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Must be installed on host</a:t>
              </a:r>
              <a:endParaRPr lang="nl-BE" dirty="0"/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H="1">
              <a:off x="3486150" y="1820872"/>
              <a:ext cx="1387929" cy="6365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13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1759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file: bootstrap from </a:t>
            </a:r>
            <a:r>
              <a:rPr lang="en-US" dirty="0" err="1"/>
              <a:t>docker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For, e.g., </a:t>
            </a:r>
            <a:r>
              <a:rPr lang="en-US" dirty="0" err="1"/>
              <a:t>Debian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Any public </a:t>
            </a:r>
            <a:r>
              <a:rPr lang="en-US" dirty="0" err="1"/>
              <a:t>docker</a:t>
            </a:r>
            <a:r>
              <a:rPr lang="en-US" dirty="0"/>
              <a:t> container can be used</a:t>
            </a:r>
          </a:p>
          <a:p>
            <a:r>
              <a:rPr lang="en-US" dirty="0"/>
              <a:t>Docker containers in private repositories can be used</a:t>
            </a:r>
          </a:p>
          <a:p>
            <a:pPr lvl="1"/>
            <a:r>
              <a:rPr lang="en-US" dirty="0"/>
              <a:t>Specify token</a:t>
            </a:r>
          </a:p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14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1160813" y="2372340"/>
            <a:ext cx="2803973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BootStrap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docker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debian:jessie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43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file: preparing install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%setup</a:t>
            </a:r>
            <a:r>
              <a:rPr lang="en-US" dirty="0">
                <a:cs typeface="Courier New" panose="02070309020205020404" pitchFamily="49" charset="0"/>
              </a:rPr>
              <a:t>: commands executed on </a:t>
            </a:r>
            <a:r>
              <a:rPr lang="en-US" i="1" dirty="0">
                <a:solidFill>
                  <a:srgbClr val="C00000"/>
                </a:solidFill>
                <a:cs typeface="Courier New" panose="02070309020205020404" pitchFamily="49" charset="0"/>
              </a:rPr>
              <a:t>host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%files</a:t>
            </a:r>
            <a:r>
              <a:rPr lang="en-US" dirty="0"/>
              <a:t>: copy files into image when base OS is installed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15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28649" y="4244511"/>
            <a:ext cx="6112571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%files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samples/README.md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sample_data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samples/*.txt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sample_data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" y="2297764"/>
            <a:ext cx="6112570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%setup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${APPTAINER_ROOTFS}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sample_data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Curved Left Arrow 13"/>
          <p:cNvSpPr/>
          <p:nvPr/>
        </p:nvSpPr>
        <p:spPr>
          <a:xfrm flipV="1">
            <a:off x="7486650" y="2591129"/>
            <a:ext cx="652007" cy="2115047"/>
          </a:xfrm>
          <a:prstGeom prst="curvedLef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628649" y="5258713"/>
            <a:ext cx="1804212" cy="918250"/>
            <a:chOff x="5151664" y="3000667"/>
            <a:chExt cx="1804212" cy="918250"/>
          </a:xfrm>
        </p:grpSpPr>
        <p:sp>
          <p:nvSpPr>
            <p:cNvPr id="16" name="TextBox 15"/>
            <p:cNvSpPr txBox="1"/>
            <p:nvPr/>
          </p:nvSpPr>
          <p:spPr>
            <a:xfrm>
              <a:off x="5151664" y="3518807"/>
              <a:ext cx="18042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70C0"/>
                  </a:solidFill>
                </a:rPr>
                <a:t>host file system</a:t>
              </a:r>
              <a:endParaRPr lang="nl-BE" sz="2000" dirty="0">
                <a:solidFill>
                  <a:srgbClr val="0070C0"/>
                </a:solidFill>
              </a:endParaRPr>
            </a:p>
          </p:txBody>
        </p:sp>
        <p:cxnSp>
          <p:nvCxnSpPr>
            <p:cNvPr id="17" name="Straight Arrow Connector 16"/>
            <p:cNvCxnSpPr>
              <a:stCxn id="16" idx="0"/>
            </p:cNvCxnSpPr>
            <p:nvPr/>
          </p:nvCxnSpPr>
          <p:spPr>
            <a:xfrm flipV="1">
              <a:off x="6053770" y="3000667"/>
              <a:ext cx="609423" cy="518140"/>
            </a:xfrm>
            <a:prstGeom prst="straightConnector1">
              <a:avLst/>
            </a:prstGeom>
            <a:ln w="12700">
              <a:solidFill>
                <a:srgbClr val="0070C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5003191" y="5258713"/>
            <a:ext cx="1984518" cy="918250"/>
            <a:chOff x="5151664" y="3000667"/>
            <a:chExt cx="1984518" cy="918250"/>
          </a:xfrm>
        </p:grpSpPr>
        <p:sp>
          <p:nvSpPr>
            <p:cNvPr id="21" name="TextBox 20"/>
            <p:cNvSpPr txBox="1"/>
            <p:nvPr/>
          </p:nvSpPr>
          <p:spPr>
            <a:xfrm>
              <a:off x="5151664" y="3518807"/>
              <a:ext cx="198451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B050"/>
                  </a:solidFill>
                </a:rPr>
                <a:t>image file system</a:t>
              </a:r>
              <a:endParaRPr lang="nl-BE" sz="2000" dirty="0">
                <a:solidFill>
                  <a:srgbClr val="00B050"/>
                </a:solidFill>
              </a:endParaRPr>
            </a:p>
          </p:txBody>
        </p:sp>
        <p:cxnSp>
          <p:nvCxnSpPr>
            <p:cNvPr id="22" name="Straight Arrow Connector 21"/>
            <p:cNvCxnSpPr>
              <a:stCxn id="21" idx="0"/>
            </p:cNvCxnSpPr>
            <p:nvPr/>
          </p:nvCxnSpPr>
          <p:spPr>
            <a:xfrm flipH="1" flipV="1">
              <a:off x="5372483" y="3000667"/>
              <a:ext cx="771440" cy="518140"/>
            </a:xfrm>
            <a:prstGeom prst="straightConnector1">
              <a:avLst/>
            </a:prstGeom>
            <a:ln w="12700">
              <a:solidFill>
                <a:srgbClr val="00B05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2829224" y="5802388"/>
            <a:ext cx="187327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Semantics of</a:t>
            </a:r>
            <a:br>
              <a:rPr lang="en-US" sz="2400" dirty="0"/>
            </a:b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sz="2400" dirty="0"/>
              <a:t> command</a:t>
            </a:r>
          </a:p>
        </p:txBody>
      </p:sp>
    </p:spTree>
    <p:extLst>
      <p:ext uri="{BB962C8B-B14F-4D97-AF65-F5344CB8AC3E}">
        <p14:creationId xmlns:p14="http://schemas.microsoft.com/office/powerpoint/2010/main" val="351046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animBg="1"/>
      <p:bldP spid="14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file: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%post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 bootstrap phase, extra software installation</a:t>
            </a:r>
          </a:p>
          <a:p>
            <a:pPr lvl="1"/>
            <a:r>
              <a:rPr lang="en-US" dirty="0"/>
              <a:t>Through package manager</a:t>
            </a:r>
          </a:p>
          <a:p>
            <a:pPr lvl="1"/>
            <a:r>
              <a:rPr lang="en-US" dirty="0"/>
              <a:t>Download, configure, make, make install</a:t>
            </a:r>
          </a:p>
          <a:p>
            <a:r>
              <a:rPr lang="en-US" dirty="0"/>
              <a:t>E.g., Ubuntu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E.g., CentOS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881743" y="3600452"/>
            <a:ext cx="6939720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%post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's/$/ universe/'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/apt/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sources.list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update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grace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1743" y="5665568"/>
            <a:ext cx="6939720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%post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yum -y install vim-minimal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0174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file: applications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%environment</a:t>
            </a:r>
            <a:r>
              <a:rPr lang="en-US" dirty="0"/>
              <a:t>: environment variables in image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runscript</a:t>
            </a:r>
            <a:r>
              <a:rPr lang="en-US" dirty="0"/>
              <a:t>: action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run</a:t>
            </a:r>
            <a:r>
              <a:rPr lang="en-US" dirty="0"/>
              <a:t>, e.g.,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Multiple application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%app…</a:t>
            </a:r>
            <a:r>
              <a:rPr lang="en-US" dirty="0"/>
              <a:t>, see documentation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628650" y="3879540"/>
            <a:ext cx="4596130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runscript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/bin/grace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17</a:t>
            </a:fld>
            <a:endParaRPr lang="nl-BE"/>
          </a:p>
        </p:txBody>
      </p:sp>
      <p:sp>
        <p:nvSpPr>
          <p:cNvPr id="7" name="TextBox 6"/>
          <p:cNvSpPr txBox="1"/>
          <p:nvPr/>
        </p:nvSpPr>
        <p:spPr>
          <a:xfrm>
            <a:off x="628650" y="2363303"/>
            <a:ext cx="4596130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%environment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export DATA_DIR=/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sample_data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29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90348-25B2-68D6-D88A-7D97C39EC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9BCBD-4096-CEF7-BAA2-0C559E187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file: tests &amp;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963B1-D19B-BB36-52C1-7A356B479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%test</a:t>
            </a:r>
            <a:r>
              <a:rPr lang="en-US" dirty="0"/>
              <a:t>: action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test</a:t>
            </a:r>
            <a:r>
              <a:rPr lang="en-US" dirty="0"/>
              <a:t>, e.g.,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%help</a:t>
            </a:r>
            <a:r>
              <a:rPr lang="en-US" dirty="0"/>
              <a:t>: shown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run --help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CFFCB-D7E4-3D9F-098F-9A019F940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18</a:t>
            </a:fld>
            <a:endParaRPr lang="nl-B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6E0CD63-0581-AAC6-3C88-EC97C143ECAD}"/>
              </a:ext>
            </a:extLst>
          </p:cNvPr>
          <p:cNvGrpSpPr/>
          <p:nvPr/>
        </p:nvGrpSpPr>
        <p:grpSpPr>
          <a:xfrm>
            <a:off x="930727" y="4318353"/>
            <a:ext cx="6659862" cy="1003907"/>
            <a:chOff x="930727" y="3892322"/>
            <a:chExt cx="6659862" cy="100390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7CF7011-9DA7-F961-5A88-628F06948C3A}"/>
                </a:ext>
              </a:extLst>
            </p:cNvPr>
            <p:cNvSpPr txBox="1"/>
            <p:nvPr/>
          </p:nvSpPr>
          <p:spPr>
            <a:xfrm>
              <a:off x="930727" y="4249898"/>
              <a:ext cx="6388287" cy="646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%help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Start grace using: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apptainer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run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grace.sif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8" name="Graphic 7" descr="Thumbs up sign with solid fill">
              <a:extLst>
                <a:ext uri="{FF2B5EF4-FFF2-40B4-BE49-F238E27FC236}">
                  <a16:creationId xmlns:a16="http://schemas.microsoft.com/office/drawing/2014/main" id="{2C82B9D9-4081-D202-12C5-9390EE7784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047439" y="3892322"/>
              <a:ext cx="543150" cy="54315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EA16081-FE7B-B1F3-D21E-5907EDAE49A2}"/>
              </a:ext>
            </a:extLst>
          </p:cNvPr>
          <p:cNvGrpSpPr/>
          <p:nvPr/>
        </p:nvGrpSpPr>
        <p:grpSpPr>
          <a:xfrm>
            <a:off x="930728" y="2469257"/>
            <a:ext cx="6659861" cy="916884"/>
            <a:chOff x="930728" y="2199091"/>
            <a:chExt cx="6659861" cy="91688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86D0A3C-C5E3-C07F-C0D9-B6FCB5893F19}"/>
                </a:ext>
              </a:extLst>
            </p:cNvPr>
            <p:cNvSpPr txBox="1"/>
            <p:nvPr/>
          </p:nvSpPr>
          <p:spPr>
            <a:xfrm>
              <a:off x="930728" y="2469644"/>
              <a:ext cx="6388286" cy="646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%test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/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usr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/bin/grace -version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pic>
          <p:nvPicPr>
            <p:cNvPr id="10" name="Graphic 9" descr="Thumbs up sign with solid fill">
              <a:extLst>
                <a:ext uri="{FF2B5EF4-FFF2-40B4-BE49-F238E27FC236}">
                  <a16:creationId xmlns:a16="http://schemas.microsoft.com/office/drawing/2014/main" id="{6D2B314D-B274-2403-1E9E-340B13040B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047439" y="2199091"/>
              <a:ext cx="543150" cy="543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169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file: meta-info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cs typeface="Courier New" panose="02070309020205020404" pitchFamily="49" charset="0"/>
              </a:rPr>
              <a:t>Provenance of images is important: reproducibility!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%labels</a:t>
            </a:r>
            <a:r>
              <a:rPr lang="en-US" dirty="0"/>
              <a:t>: shown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inspect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Added by </a:t>
            </a:r>
            <a:r>
              <a:rPr lang="en-US" dirty="0" err="1">
                <a:cs typeface="Courier New" panose="02070309020205020404" pitchFamily="49" charset="0"/>
              </a:rPr>
              <a:t>apptainer</a:t>
            </a:r>
            <a:r>
              <a:rPr lang="en-US" dirty="0"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Architecture,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amd64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Build date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Bootstrap, .e.g.,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docker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From,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ubuntu:22.04</a:t>
            </a:r>
          </a:p>
          <a:p>
            <a:r>
              <a:rPr lang="en-US" dirty="0">
                <a:cs typeface="Courier New" panose="02070309020205020404" pitchFamily="49" charset="0"/>
              </a:rPr>
              <a:t>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inspect</a:t>
            </a:r>
            <a:r>
              <a:rPr lang="en-US" dirty="0">
                <a:cs typeface="Courier New" panose="02070309020205020404" pitchFamily="49" charset="0"/>
              </a:rPr>
              <a:t> to view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19</a:t>
            </a:fld>
            <a:endParaRPr lang="nl-B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4377EA1-E1F9-C678-AF2C-53CD8215F4E8}"/>
              </a:ext>
            </a:extLst>
          </p:cNvPr>
          <p:cNvGrpSpPr/>
          <p:nvPr/>
        </p:nvGrpSpPr>
        <p:grpSpPr>
          <a:xfrm>
            <a:off x="1034251" y="2589594"/>
            <a:ext cx="6659862" cy="1402758"/>
            <a:chOff x="930727" y="4231365"/>
            <a:chExt cx="6659862" cy="1402758"/>
          </a:xfrm>
        </p:grpSpPr>
        <p:sp>
          <p:nvSpPr>
            <p:cNvPr id="6" name="TextBox 5"/>
            <p:cNvSpPr txBox="1"/>
            <p:nvPr/>
          </p:nvSpPr>
          <p:spPr>
            <a:xfrm>
              <a:off x="930727" y="4231365"/>
              <a:ext cx="6388287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%labels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Maintainer Geert Jan Bex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Email geertjan.bex@uhasselt.be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Version 1.0</a:t>
              </a:r>
            </a:p>
          </p:txBody>
        </p:sp>
        <p:pic>
          <p:nvPicPr>
            <p:cNvPr id="8" name="Graphic 7" descr="Thumbs up sign with solid fill">
              <a:extLst>
                <a:ext uri="{FF2B5EF4-FFF2-40B4-BE49-F238E27FC236}">
                  <a16:creationId xmlns:a16="http://schemas.microsoft.com/office/drawing/2014/main" id="{59911D42-520D-8A14-2EAC-F917E6D8AF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047439" y="5090973"/>
              <a:ext cx="543150" cy="543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697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 file: (almost) complete</a:t>
            </a:r>
            <a:endParaRPr lang="nl-BE" dirty="0"/>
          </a:p>
        </p:txBody>
      </p:sp>
      <p:sp>
        <p:nvSpPr>
          <p:cNvPr id="3" name="TextBox 2"/>
          <p:cNvSpPr txBox="1"/>
          <p:nvPr/>
        </p:nvSpPr>
        <p:spPr>
          <a:xfrm>
            <a:off x="800101" y="1532503"/>
            <a:ext cx="6939720" cy="50783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BootStrap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debootstrap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OSVersion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xenial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MirrorURL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: http://us.archive.ubuntu.com/ubuntu/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%post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's/$/ universe/'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/apt/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sources.list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update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grace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runscript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/bin/grace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%test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/bin/grace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 –version</a:t>
            </a:r>
          </a:p>
          <a:p>
            <a:endParaRPr lang="nl-BE" dirty="0">
              <a:latin typeface="Courier New" panose="02070309020205020404" pitchFamily="49" charset="0"/>
              <a:cs typeface="Courier New" panose="02070309020205020404" pitchFamily="49" charset="0"/>
              <a:sym typeface="Symbol" panose="05050102010706020507" pitchFamily="18" charset="2"/>
            </a:endParaRPr>
          </a:p>
          <a:p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20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6205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image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</a:t>
            </a:r>
          </a:p>
          <a:p>
            <a:pPr lvl="1"/>
            <a:r>
              <a:rPr lang="en-US" dirty="0"/>
              <a:t>Creates image</a:t>
            </a:r>
          </a:p>
          <a:p>
            <a:pPr lvl="1"/>
            <a:r>
              <a:rPr lang="en-US" dirty="0"/>
              <a:t>Installs base OS</a:t>
            </a:r>
          </a:p>
          <a:p>
            <a:pPr lvl="1"/>
            <a:r>
              <a:rPr lang="en-US" dirty="0"/>
              <a:t>Installs software specified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%post</a:t>
            </a:r>
          </a:p>
          <a:p>
            <a:r>
              <a:rPr lang="en-US" dirty="0">
                <a:cs typeface="Courier New" panose="02070309020205020404" pitchFamily="49" charset="0"/>
              </a:rPr>
              <a:t>Build done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with </a:t>
            </a:r>
            <a:r>
              <a:rPr lang="en-US" dirty="0" err="1">
                <a:cs typeface="Courier New" panose="02070309020205020404" pitchFamily="49" charset="0"/>
              </a:rPr>
              <a:t>sudo</a:t>
            </a:r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  <a:p>
            <a:pPr lvl="1"/>
            <a:r>
              <a:rPr lang="en-US" dirty="0">
                <a:cs typeface="Courier New" panose="02070309020205020404" pitchFamily="49" charset="0"/>
              </a:rPr>
              <a:t>with fake root</a:t>
            </a:r>
          </a:p>
          <a:p>
            <a:pPr marL="0" indent="0">
              <a:buNone/>
            </a:pPr>
            <a:endParaRPr lang="en-US" dirty="0"/>
          </a:p>
          <a:p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033210" y="4350489"/>
            <a:ext cx="7077579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build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grace.sif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grace.def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21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B27E5-AEEC-C37E-0C21-96CA15E816F9}"/>
              </a:ext>
            </a:extLst>
          </p:cNvPr>
          <p:cNvSpPr txBox="1"/>
          <p:nvPr/>
        </p:nvSpPr>
        <p:spPr>
          <a:xfrm>
            <a:off x="1033210" y="5157475"/>
            <a:ext cx="693972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build –-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fakeroot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grace.sif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grace.def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16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56BC1-262C-F91D-9B6F-E0558204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Parametrized recipes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68569-F83C-AE35-5606-E74BA78A9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Build-time parameters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Build with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FC1B6-3226-27B4-CE35-1809DB39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22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DC9F9-C1F8-7A54-2197-1C5F37FE76B0}"/>
              </a:ext>
            </a:extLst>
          </p:cNvPr>
          <p:cNvSpPr txBox="1"/>
          <p:nvPr/>
        </p:nvSpPr>
        <p:spPr>
          <a:xfrm>
            <a:off x="950768" y="2332583"/>
            <a:ext cx="5698996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%files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{{ environment }}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environment.yml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925BC4-E5DC-F307-A4A1-A7D54EF860C0}"/>
              </a:ext>
            </a:extLst>
          </p:cNvPr>
          <p:cNvSpPr txBox="1"/>
          <p:nvPr/>
        </p:nvSpPr>
        <p:spPr>
          <a:xfrm>
            <a:off x="950767" y="3879087"/>
            <a:ext cx="5698996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build –-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fakeroot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--build-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environment=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env.yml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pytorch.sif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pytorch.def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B4929-1BFA-A73A-EA45-4BD1FEAAD917}"/>
              </a:ext>
            </a:extLst>
          </p:cNvPr>
          <p:cNvSpPr txBox="1"/>
          <p:nvPr/>
        </p:nvSpPr>
        <p:spPr>
          <a:xfrm>
            <a:off x="5405603" y="4616877"/>
            <a:ext cx="3348737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Recipe won't build unless</a:t>
            </a:r>
          </a:p>
          <a:p>
            <a:pPr algn="ctr"/>
            <a:r>
              <a:rPr lang="en-US" sz="2400" dirty="0"/>
              <a:t>all arguments defined!</a:t>
            </a:r>
            <a:endParaRPr lang="LID4096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FC5ACFC-B313-4F69-68CF-2F5F082B98B0}"/>
              </a:ext>
            </a:extLst>
          </p:cNvPr>
          <p:cNvGrpSpPr/>
          <p:nvPr/>
        </p:nvGrpSpPr>
        <p:grpSpPr>
          <a:xfrm>
            <a:off x="1186895" y="5257397"/>
            <a:ext cx="3385105" cy="812129"/>
            <a:chOff x="1186895" y="5257397"/>
            <a:chExt cx="3385105" cy="8121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211B60D-86A8-448A-FA10-D261F88125BA}"/>
                </a:ext>
              </a:extLst>
            </p:cNvPr>
            <p:cNvSpPr txBox="1"/>
            <p:nvPr/>
          </p:nvSpPr>
          <p:spPr>
            <a:xfrm>
              <a:off x="1186895" y="5607861"/>
              <a:ext cx="308058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Reproducible builds???</a:t>
              </a:r>
              <a:endParaRPr lang="LID4096" sz="2400" dirty="0"/>
            </a:p>
          </p:txBody>
        </p:sp>
        <p:pic>
          <p:nvPicPr>
            <p:cNvPr id="9" name="Graphic 8" descr="Warning with solid fill">
              <a:extLst>
                <a:ext uri="{FF2B5EF4-FFF2-40B4-BE49-F238E27FC236}">
                  <a16:creationId xmlns:a16="http://schemas.microsoft.com/office/drawing/2014/main" id="{513A03B6-1022-D24D-C304-4F564A054C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85946" y="5257397"/>
              <a:ext cx="486054" cy="48605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797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3184C-5869-4530-F76B-0BB3652DB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Gotchas on HPC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6399D-B004-73C8-D51A-3D6B4F769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Can't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dirty="0">
                <a:sym typeface="Symbol" panose="05050102010706020507" pitchFamily="18" charset="2"/>
              </a:rPr>
              <a:t> </a:t>
            </a:r>
            <a:r>
              <a:rPr lang="en-US" dirty="0"/>
              <a:t>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fakeroot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Building takes time</a:t>
            </a:r>
          </a:p>
          <a:p>
            <a:pPr lvl="1"/>
            <a:r>
              <a:rPr lang="en-US" dirty="0"/>
              <a:t>Use compute node/batch job</a:t>
            </a:r>
          </a:p>
          <a:p>
            <a:pPr lvl="1"/>
            <a:r>
              <a:rPr lang="en-US" dirty="0"/>
              <a:t>Request enough </a:t>
            </a:r>
            <a:r>
              <a:rPr lang="en-US" dirty="0" err="1"/>
              <a:t>walltime</a:t>
            </a:r>
            <a:r>
              <a:rPr lang="en-US" dirty="0"/>
              <a:t>, e.g.,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--time 2:00:00</a:t>
            </a:r>
            <a:r>
              <a:rPr lang="en-US" dirty="0"/>
              <a:t>!</a:t>
            </a:r>
          </a:p>
          <a:p>
            <a:r>
              <a:rPr lang="en-US" dirty="0"/>
              <a:t>Build takes memory</a:t>
            </a:r>
          </a:p>
          <a:p>
            <a:pPr lvl="1"/>
            <a:r>
              <a:rPr lang="en-US" dirty="0"/>
              <a:t>Request enough memory, 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--mem=16G</a:t>
            </a:r>
          </a:p>
          <a:p>
            <a:r>
              <a:rPr lang="en-US" dirty="0"/>
              <a:t>Important </a:t>
            </a:r>
            <a:r>
              <a:rPr lang="en-US" dirty="0" err="1"/>
              <a:t>apptainer</a:t>
            </a:r>
            <a:r>
              <a:rPr lang="en-US" dirty="0"/>
              <a:t> directories</a:t>
            </a:r>
          </a:p>
          <a:p>
            <a:pPr lvl="1"/>
            <a:r>
              <a:rPr lang="en-US" dirty="0"/>
              <a:t>Temporary directory</a:t>
            </a:r>
          </a:p>
          <a:p>
            <a:pPr lvl="1"/>
            <a:r>
              <a:rPr lang="en-US" dirty="0"/>
              <a:t>Cache directory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83FF3-9DEF-2F08-4159-2B02005A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14226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BD32D-C906-2D06-2D96-E402453E1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Gotcha: temporary directory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C2350-D64E-4BEB-1270-7666AD8BF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to build image</a:t>
            </a:r>
          </a:p>
          <a:p>
            <a:r>
              <a:rPr lang="en-US" dirty="0"/>
              <a:t>Defaults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TMPDIR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Can be set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APPTAINER_TMPDIR</a:t>
            </a:r>
          </a:p>
          <a:p>
            <a:r>
              <a:rPr lang="en-US" dirty="0"/>
              <a:t>Often works on </a:t>
            </a:r>
            <a:r>
              <a:rPr lang="en-US" dirty="0" err="1"/>
              <a:t>Lustre</a:t>
            </a:r>
            <a:r>
              <a:rPr lang="en-US" dirty="0"/>
              <a:t>, sometimes not</a:t>
            </a:r>
          </a:p>
          <a:p>
            <a:r>
              <a:rPr lang="en-US" dirty="0"/>
              <a:t>Set to local SSD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performance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3E7B9-61AA-B91E-F629-7811D4F1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24</a:t>
            </a:fld>
            <a:endParaRPr lang="nl-BE" dirty="0"/>
          </a:p>
        </p:txBody>
      </p:sp>
      <p:pic>
        <p:nvPicPr>
          <p:cNvPr id="6" name="Picture 2" descr="C:\Users\lucg5005\AppData\Local\Microsoft\Windows\Temporary Internet Files\Content.IE5\CWZUAEH4\lgi01a201309290600[1].jpg">
            <a:extLst>
              <a:ext uri="{FF2B5EF4-FFF2-40B4-BE49-F238E27FC236}">
                <a16:creationId xmlns:a16="http://schemas.microsoft.com/office/drawing/2014/main" id="{71325D3E-5028-91EC-CDE9-2FE7C7EF8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840" y="3255790"/>
            <a:ext cx="424613" cy="4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EFC2C03-805B-1776-C009-48F515D69B30}"/>
              </a:ext>
            </a:extLst>
          </p:cNvPr>
          <p:cNvGrpSpPr/>
          <p:nvPr/>
        </p:nvGrpSpPr>
        <p:grpSpPr>
          <a:xfrm>
            <a:off x="729096" y="4285820"/>
            <a:ext cx="7015596" cy="1200329"/>
            <a:chOff x="-1932710" y="4285820"/>
            <a:chExt cx="7015596" cy="120032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D7F80E6-D7DB-AB8F-F384-1397D5CFE901}"/>
                </a:ext>
              </a:extLst>
            </p:cNvPr>
            <p:cNvSpPr txBox="1"/>
            <p:nvPr/>
          </p:nvSpPr>
          <p:spPr>
            <a:xfrm>
              <a:off x="-1932710" y="4285820"/>
              <a:ext cx="7015596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%post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chmod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1777 /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tmp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endParaRPr>
            </a:p>
            <a:p>
              <a:r>
                <a:rPr lang="nl-BE" dirty="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    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4F3561-3210-7EF6-DF20-52924BABF900}"/>
                </a:ext>
              </a:extLst>
            </p:cNvPr>
            <p:cNvSpPr txBox="1"/>
            <p:nvPr/>
          </p:nvSpPr>
          <p:spPr>
            <a:xfrm>
              <a:off x="4164813" y="4285820"/>
              <a:ext cx="91807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recipe.def</a:t>
              </a:r>
              <a:endParaRPr lang="LID4096" sz="14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9B9B826-2C9C-6E75-2910-10A20C9E0815}"/>
              </a:ext>
            </a:extLst>
          </p:cNvPr>
          <p:cNvGrpSpPr/>
          <p:nvPr/>
        </p:nvGrpSpPr>
        <p:grpSpPr>
          <a:xfrm>
            <a:off x="729095" y="5570829"/>
            <a:ext cx="7015596" cy="1200329"/>
            <a:chOff x="729095" y="5570829"/>
            <a:chExt cx="7015596" cy="120032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40FE238-60C6-6A93-CAD2-3AE54C22DB24}"/>
                </a:ext>
              </a:extLst>
            </p:cNvPr>
            <p:cNvSpPr txBox="1"/>
            <p:nvPr/>
          </p:nvSpPr>
          <p:spPr>
            <a:xfrm>
              <a:off x="729095" y="5570829"/>
              <a:ext cx="7015596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export APPTAINER_TMPDIR=$VSC_SCRATCH_NODE/$USER/</a:t>
              </a:r>
              <a:b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mkdir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-p  $APPTAINER_TMPDIR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nl-BE" dirty="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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9A106B-BCEC-1F6D-BCB9-01483890B36F}"/>
                </a:ext>
              </a:extLst>
            </p:cNvPr>
            <p:cNvSpPr txBox="1"/>
            <p:nvPr/>
          </p:nvSpPr>
          <p:spPr>
            <a:xfrm>
              <a:off x="6698379" y="5570829"/>
              <a:ext cx="104631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script.slurm</a:t>
              </a:r>
              <a:endParaRPr lang="LID4096" sz="14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D4B478-04C3-6FA6-4DAC-2BD2B6610210}"/>
              </a:ext>
            </a:extLst>
          </p:cNvPr>
          <p:cNvGrpSpPr/>
          <p:nvPr/>
        </p:nvGrpSpPr>
        <p:grpSpPr>
          <a:xfrm>
            <a:off x="3643106" y="4439708"/>
            <a:ext cx="2627807" cy="679965"/>
            <a:chOff x="5887543" y="185738"/>
            <a:chExt cx="2627807" cy="67996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90C1B03-9884-46ED-0626-233CE1E762FF}"/>
                </a:ext>
              </a:extLst>
            </p:cNvPr>
            <p:cNvSpPr txBox="1"/>
            <p:nvPr/>
          </p:nvSpPr>
          <p:spPr>
            <a:xfrm>
              <a:off x="5887543" y="496371"/>
              <a:ext cx="233781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Fixes permission issues</a:t>
              </a:r>
              <a:endParaRPr lang="LID4096" dirty="0"/>
            </a:p>
          </p:txBody>
        </p:sp>
        <p:pic>
          <p:nvPicPr>
            <p:cNvPr id="17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035E57C1-5F7B-9373-C682-CB8F33A4A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90737" y="185738"/>
              <a:ext cx="424613" cy="4356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8976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CCA74-E5F3-ED44-3205-3CC37AF2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C7E24-EA9D-E541-7B6D-6EEBF503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Gotcha: cache directory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7FB50-7869-2343-EA8E-456B1CEE8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Used to cache build artifacts</a:t>
            </a:r>
          </a:p>
          <a:p>
            <a:pPr lvl="1"/>
            <a:r>
              <a:rPr lang="en-US" dirty="0"/>
              <a:t>Across builds</a:t>
            </a:r>
          </a:p>
          <a:p>
            <a:r>
              <a:rPr lang="en-US" dirty="0"/>
              <a:t>By default: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$HOME/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</a:rPr>
              <a:t>/cache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Can grow very large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quota!</a:t>
            </a:r>
          </a:p>
          <a:p>
            <a:r>
              <a:rPr lang="en-US" dirty="0"/>
              <a:t>Can be set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APPTAINER_CACHEDIR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72587-754C-6019-C6CC-A8EEA4572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25</a:t>
            </a:fld>
            <a:endParaRPr lang="nl-BE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9EAB036-3D71-B84F-28BC-C250A9BACCF5}"/>
              </a:ext>
            </a:extLst>
          </p:cNvPr>
          <p:cNvGrpSpPr/>
          <p:nvPr/>
        </p:nvGrpSpPr>
        <p:grpSpPr>
          <a:xfrm>
            <a:off x="874567" y="4230402"/>
            <a:ext cx="7015596" cy="1200329"/>
            <a:chOff x="729095" y="5570829"/>
            <a:chExt cx="7015596" cy="120032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55731F-FCA1-37FC-D524-0A90543CBCF7}"/>
                </a:ext>
              </a:extLst>
            </p:cNvPr>
            <p:cNvSpPr txBox="1"/>
            <p:nvPr/>
          </p:nvSpPr>
          <p:spPr>
            <a:xfrm>
              <a:off x="729095" y="5570829"/>
              <a:ext cx="7015596" cy="120032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export APPTAINER_CACHEDIR=$VSC_SCRATCH/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appt_cache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b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mkdir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-p  $APPTAINER_CACHEDIR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nl-BE" dirty="0">
                  <a:latin typeface="Courier New" panose="02070309020205020404" pitchFamily="49" charset="0"/>
                  <a:cs typeface="Courier New" panose="02070309020205020404" pitchFamily="49" charset="0"/>
                  <a:sym typeface="Symbol" panose="05050102010706020507" pitchFamily="18" charset="2"/>
                </a:rPr>
                <a:t>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EAF7ED-6AED-802F-D9BC-E196C2D6BEC5}"/>
                </a:ext>
              </a:extLst>
            </p:cNvPr>
            <p:cNvSpPr txBox="1"/>
            <p:nvPr/>
          </p:nvSpPr>
          <p:spPr>
            <a:xfrm>
              <a:off x="6698379" y="5570829"/>
              <a:ext cx="104631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script.slurm</a:t>
              </a:r>
              <a:endParaRPr lang="LID4096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1926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36273-9D42-A1AF-BC92-3A072BD3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job script</a:t>
            </a: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D0037E-5D93-26AF-364A-5223EC961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26</a:t>
            </a:fld>
            <a:endParaRPr lang="nl-B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D06E526-1240-9FD2-D7CB-62C67280681C}"/>
              </a:ext>
            </a:extLst>
          </p:cNvPr>
          <p:cNvGrpSpPr/>
          <p:nvPr/>
        </p:nvGrpSpPr>
        <p:grpSpPr>
          <a:xfrm>
            <a:off x="729096" y="1615357"/>
            <a:ext cx="7685808" cy="3970318"/>
            <a:chOff x="-2602922" y="4285820"/>
            <a:chExt cx="7685808" cy="397031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F0CFF2D-69F9-CF11-517D-7B694E6B33E8}"/>
                </a:ext>
              </a:extLst>
            </p:cNvPr>
            <p:cNvSpPr txBox="1"/>
            <p:nvPr/>
          </p:nvSpPr>
          <p:spPr>
            <a:xfrm>
              <a:off x="-2602922" y="4285820"/>
              <a:ext cx="7685808" cy="397031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#!/usr/bin/env -S bash -l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--account=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my_credits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--nodes=1 --tasks-per-node=1 --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cpus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-per-task=4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--time=2:00:00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#SBATCH --mem 16G</a:t>
              </a:r>
            </a:p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export APPTAINER_TMPDIR=$VSC_SCRATCH_NODE/$USER/</a:t>
              </a:r>
              <a:b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mkdir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-p  $APPTAINER_TMPDIR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export APPTAINER_CACHEDIR=$VSC_SCRATCH/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appt_cache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b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mkdir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-p  $APPTAINER_CACHEDIR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apptainer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build  --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fakeroot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\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</a:t>
              </a: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grace.sif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\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grace.def</a:t>
              </a:r>
              <a:endParaRPr lang="nl-BE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0BADB3-EB61-6FAA-C350-800DA0895BC6}"/>
                </a:ext>
              </a:extLst>
            </p:cNvPr>
            <p:cNvSpPr txBox="1"/>
            <p:nvPr/>
          </p:nvSpPr>
          <p:spPr>
            <a:xfrm>
              <a:off x="4029730" y="4285820"/>
              <a:ext cx="1046312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 err="1"/>
                <a:t>script.slurm</a:t>
              </a:r>
              <a:endParaRPr lang="LID4096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6486381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Types</a:t>
            </a:r>
          </a:p>
          <a:p>
            <a:pPr lvl="1"/>
            <a:r>
              <a:rPr lang="en-US" dirty="0"/>
              <a:t>default: </a:t>
            </a:r>
            <a:r>
              <a:rPr lang="en-US" dirty="0" err="1"/>
              <a:t>sif</a:t>
            </a:r>
            <a:endParaRPr lang="en-US" dirty="0"/>
          </a:p>
          <a:p>
            <a:pPr lvl="1"/>
            <a:r>
              <a:rPr lang="en-US" dirty="0" err="1"/>
              <a:t>squashfs</a:t>
            </a:r>
            <a:endParaRPr lang="en-US" dirty="0"/>
          </a:p>
          <a:p>
            <a:pPr lvl="2"/>
            <a:r>
              <a:rPr lang="en-US" dirty="0"/>
              <a:t>compressed</a:t>
            </a:r>
          </a:p>
          <a:p>
            <a:pPr lvl="2"/>
            <a:r>
              <a:rPr lang="en-US" dirty="0"/>
              <a:t>read-only</a:t>
            </a:r>
          </a:p>
          <a:p>
            <a:pPr lvl="1"/>
            <a:r>
              <a:rPr lang="en-US" dirty="0"/>
              <a:t>writable: ext3</a:t>
            </a:r>
          </a:p>
          <a:p>
            <a:pPr lvl="2"/>
            <a:r>
              <a:rPr lang="en-US" dirty="0" err="1"/>
              <a:t>sudo</a:t>
            </a:r>
            <a:r>
              <a:rPr lang="en-US" dirty="0"/>
              <a:t> build</a:t>
            </a:r>
          </a:p>
          <a:p>
            <a:pPr lvl="1"/>
            <a:r>
              <a:rPr lang="en-US" dirty="0"/>
              <a:t>sandbox: directory</a:t>
            </a:r>
          </a:p>
          <a:p>
            <a:r>
              <a:rPr lang="en-US" dirty="0"/>
              <a:t>Properties</a:t>
            </a:r>
          </a:p>
          <a:p>
            <a:pPr lvl="1"/>
            <a:r>
              <a:rPr lang="en-US" dirty="0"/>
              <a:t>read-only</a:t>
            </a:r>
          </a:p>
          <a:p>
            <a:pPr lvl="1"/>
            <a:r>
              <a:rPr lang="en-US" dirty="0" err="1"/>
              <a:t>sudo</a:t>
            </a:r>
            <a:r>
              <a:rPr lang="en-US" dirty="0"/>
              <a:t>: read-write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0087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7053-A591-F416-D8AF-E382290D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Multistage builds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C91A-E097-D350-6F6D-2F9051A23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Libraries/tools only required during software builds?</a:t>
            </a:r>
          </a:p>
          <a:p>
            <a:pPr lvl="1"/>
            <a:r>
              <a:rPr lang="en-US" dirty="0"/>
              <a:t>Take up space</a:t>
            </a:r>
          </a:p>
          <a:p>
            <a:pPr lvl="1"/>
            <a:r>
              <a:rPr lang="en-US" dirty="0"/>
              <a:t>Increases time to load</a:t>
            </a:r>
          </a:p>
          <a:p>
            <a:pPr lvl="1"/>
            <a:r>
              <a:rPr lang="en-US" dirty="0"/>
              <a:t>Increases memory footprint</a:t>
            </a:r>
          </a:p>
          <a:p>
            <a:r>
              <a:rPr lang="en-US" dirty="0"/>
              <a:t>Multistage build</a:t>
            </a:r>
          </a:p>
          <a:p>
            <a:pPr lvl="1"/>
            <a:r>
              <a:rPr lang="en-US" dirty="0"/>
              <a:t>Build stage: create temporary image</a:t>
            </a:r>
          </a:p>
          <a:p>
            <a:pPr lvl="1"/>
            <a:r>
              <a:rPr lang="en-US" dirty="0"/>
              <a:t>Deployment stage: copy artefacts from build stage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A348A-3F57-6CB2-50F8-8F2C2087E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28</a:t>
            </a:fld>
            <a:endParaRPr lang="nl-B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C4DA47-E1FE-0D8D-8847-4B87BFF7E03D}"/>
              </a:ext>
            </a:extLst>
          </p:cNvPr>
          <p:cNvGrpSpPr/>
          <p:nvPr/>
        </p:nvGrpSpPr>
        <p:grpSpPr>
          <a:xfrm>
            <a:off x="1242883" y="5356319"/>
            <a:ext cx="5215067" cy="1048838"/>
            <a:chOff x="1242883" y="5356319"/>
            <a:chExt cx="5215067" cy="104883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FAB717A-4C72-2769-2BBE-DA78ECCF26B9}"/>
                </a:ext>
              </a:extLst>
            </p:cNvPr>
            <p:cNvSpPr txBox="1"/>
            <p:nvPr/>
          </p:nvSpPr>
          <p:spPr>
            <a:xfrm>
              <a:off x="1242883" y="5574160"/>
              <a:ext cx="4923592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Don't forget to copy all dependencies,</a:t>
              </a:r>
            </a:p>
            <a:p>
              <a:r>
                <a:rPr lang="en-US" sz="2400" dirty="0"/>
                <a:t>use </a:t>
              </a:r>
              <a:r>
                <a:rPr lang="en-US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ldd</a:t>
              </a:r>
              <a:r>
                <a:rPr lang="en-US" sz="2400" dirty="0"/>
                <a:t> to check!</a:t>
              </a:r>
            </a:p>
          </p:txBody>
        </p:sp>
        <p:pic>
          <p:nvPicPr>
            <p:cNvPr id="6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652346C7-5A4B-0907-7750-581542CA9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3337" y="5356319"/>
              <a:ext cx="424613" cy="4356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6514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builds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Requires account at Sylabs.io</a:t>
            </a:r>
          </a:p>
          <a:p>
            <a:r>
              <a:rPr lang="en-US" dirty="0"/>
              <a:t>Build using web browser</a:t>
            </a:r>
          </a:p>
          <a:p>
            <a:pPr lvl="1"/>
            <a:r>
              <a:rPr lang="en-US" dirty="0">
                <a:hlinkClick r:id="rId2"/>
              </a:rPr>
              <a:t>https://cloud.sylabs.io/builder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requires Singularity definition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3182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options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30</a:t>
            </a:fld>
            <a:endParaRPr lang="nl-BE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998" y="1441451"/>
            <a:ext cx="516255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621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1721-55BD-60E5-99AC-46654302C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NVIDIA </a:t>
            </a:r>
            <a:r>
              <a:rPr lang="en-US" dirty="0" err="1"/>
              <a:t>hpccm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71E07-FE26-E002-17F8-9607F4EE0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7FAAB-AF37-268A-3AC9-EF9DA8F6C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6832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0E89-FFC0-4845-BDDE-D796834F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one more thing…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4A562-79AA-40F3-BE3F-7E563916F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hpccm</a:t>
            </a:r>
            <a:r>
              <a:rPr lang="en-US" dirty="0"/>
              <a:t> (HPC Container Maker)</a:t>
            </a:r>
          </a:p>
          <a:p>
            <a:pPr lvl="1"/>
            <a:r>
              <a:rPr lang="en-US" dirty="0"/>
              <a:t>NVIDIA open source project</a:t>
            </a:r>
            <a:br>
              <a:rPr lang="en-US" dirty="0"/>
            </a:br>
            <a:r>
              <a:rPr lang="en-US" dirty="0">
                <a:hlinkClick r:id="rId2"/>
              </a:rPr>
              <a:t>https://github.com/NVIDIA/hpc-container-maker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Python script defines container</a:t>
            </a:r>
          </a:p>
          <a:p>
            <a:pPr lvl="1"/>
            <a:r>
              <a:rPr lang="en-US" dirty="0"/>
              <a:t>Translated to</a:t>
            </a:r>
          </a:p>
          <a:p>
            <a:pPr lvl="2"/>
            <a:r>
              <a:rPr lang="en-US" dirty="0" err="1"/>
              <a:t>Dockerfile</a:t>
            </a:r>
            <a:endParaRPr lang="en-US" dirty="0"/>
          </a:p>
          <a:p>
            <a:pPr lvl="2"/>
            <a:r>
              <a:rPr lang="en-US" dirty="0"/>
              <a:t>Singularity recipe</a:t>
            </a:r>
          </a:p>
          <a:p>
            <a:pPr lvl="2"/>
            <a:r>
              <a:rPr lang="en-US" dirty="0"/>
              <a:t>Bash install script</a:t>
            </a:r>
            <a:endParaRPr lang="en-B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3C4797-6577-4CD5-A1FC-E39FB8C24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32</a:t>
            </a:fld>
            <a:endParaRPr lang="nl-B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48DD1F6-3433-17D1-5BE8-FE5D9D4343FC}"/>
              </a:ext>
            </a:extLst>
          </p:cNvPr>
          <p:cNvGrpSpPr/>
          <p:nvPr/>
        </p:nvGrpSpPr>
        <p:grpSpPr>
          <a:xfrm>
            <a:off x="2171204" y="4926349"/>
            <a:ext cx="4801592" cy="822934"/>
            <a:chOff x="2171204" y="4926349"/>
            <a:chExt cx="4801592" cy="82293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6D32B20-84CE-4BC6-95AD-8F2F6E921673}"/>
                </a:ext>
              </a:extLst>
            </p:cNvPr>
            <p:cNvSpPr txBox="1"/>
            <p:nvPr/>
          </p:nvSpPr>
          <p:spPr>
            <a:xfrm>
              <a:off x="2171204" y="5287618"/>
              <a:ext cx="4484882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High-level description of container</a:t>
              </a:r>
              <a:endParaRPr lang="en-BE" sz="2400" dirty="0"/>
            </a:p>
          </p:txBody>
        </p:sp>
        <p:pic>
          <p:nvPicPr>
            <p:cNvPr id="6" name="Graphic 5" descr="Thumbs up sign with solid fill">
              <a:extLst>
                <a:ext uri="{FF2B5EF4-FFF2-40B4-BE49-F238E27FC236}">
                  <a16:creationId xmlns:a16="http://schemas.microsoft.com/office/drawing/2014/main" id="{3BC2125C-C324-5F37-2904-852583D369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29646" y="4926349"/>
              <a:ext cx="543150" cy="543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601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024D-92D0-4578-938D-5F75C0A2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hpccm</a:t>
            </a:r>
            <a:r>
              <a:rPr lang="en-US" dirty="0"/>
              <a:t> recipe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2F15A-F72C-45C3-8FC1-87EF3126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33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860A3-3F83-4392-BB21-81C5903F760B}"/>
              </a:ext>
            </a:extLst>
          </p:cNvPr>
          <p:cNvSpPr txBox="1"/>
          <p:nvPr/>
        </p:nvSpPr>
        <p:spPr>
          <a:xfrm>
            <a:off x="505899" y="1373482"/>
            <a:ext cx="8063105" cy="48013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import </a:t>
            </a:r>
            <a:r>
              <a:rPr lang="en-GB" dirty="0" err="1"/>
              <a:t>pathlib</a:t>
            </a:r>
            <a:endParaRPr lang="en-GB" dirty="0"/>
          </a:p>
          <a:p>
            <a:endParaRPr lang="en-GB" dirty="0"/>
          </a:p>
          <a:p>
            <a:r>
              <a:rPr lang="en-GB" dirty="0"/>
              <a:t># Choose a base image                          </a:t>
            </a:r>
          </a:p>
          <a:p>
            <a:r>
              <a:rPr lang="en-GB" dirty="0"/>
              <a:t>Stage0 += </a:t>
            </a:r>
            <a:r>
              <a:rPr lang="en-GB" dirty="0" err="1"/>
              <a:t>baseimage</a:t>
            </a:r>
            <a:r>
              <a:rPr lang="en-GB" dirty="0"/>
              <a:t>(image='ubuntu:20.04')</a:t>
            </a:r>
          </a:p>
          <a:p>
            <a:r>
              <a:rPr lang="en-GB" dirty="0"/>
              <a:t>                                               </a:t>
            </a:r>
          </a:p>
          <a:p>
            <a:r>
              <a:rPr lang="en-GB" dirty="0"/>
              <a:t># Install build tools                          </a:t>
            </a:r>
          </a:p>
          <a:p>
            <a:r>
              <a:rPr lang="en-GB" dirty="0"/>
              <a:t>Stage0 += </a:t>
            </a:r>
            <a:r>
              <a:rPr lang="en-GB" dirty="0" err="1"/>
              <a:t>apt_get</a:t>
            </a:r>
            <a:r>
              <a:rPr lang="en-GB" dirty="0"/>
              <a:t>(</a:t>
            </a:r>
            <a:r>
              <a:rPr lang="en-GB" dirty="0" err="1"/>
              <a:t>ospackages</a:t>
            </a:r>
            <a:r>
              <a:rPr lang="en-GB" dirty="0"/>
              <a:t>=['build-essential', 'make'])                                                </a:t>
            </a:r>
          </a:p>
          <a:p>
            <a:r>
              <a:rPr lang="en-GB" dirty="0"/>
              <a:t>Stage0 += </a:t>
            </a:r>
            <a:r>
              <a:rPr lang="en-GB" dirty="0" err="1"/>
              <a:t>cmake</a:t>
            </a:r>
            <a:r>
              <a:rPr lang="en-GB" dirty="0"/>
              <a:t>(</a:t>
            </a:r>
            <a:r>
              <a:rPr lang="en-GB" dirty="0" err="1"/>
              <a:t>eula</a:t>
            </a:r>
            <a:r>
              <a:rPr lang="en-GB" dirty="0"/>
              <a:t>=True)</a:t>
            </a:r>
          </a:p>
          <a:p>
            <a:endParaRPr lang="en-GB" dirty="0"/>
          </a:p>
          <a:p>
            <a:r>
              <a:rPr lang="en-GB" dirty="0"/>
              <a:t># Install GNU compilers (upstream)</a:t>
            </a:r>
          </a:p>
          <a:p>
            <a:r>
              <a:rPr lang="en-GB" dirty="0"/>
              <a:t>Stage0 += gnu() </a:t>
            </a:r>
          </a:p>
          <a:p>
            <a:endParaRPr lang="en-GB" dirty="0"/>
          </a:p>
          <a:p>
            <a:r>
              <a:rPr lang="en-GB" dirty="0"/>
              <a:t># Copy in some example code</a:t>
            </a:r>
          </a:p>
          <a:p>
            <a:r>
              <a:rPr lang="en-GB" dirty="0" err="1"/>
              <a:t>source_dir</a:t>
            </a:r>
            <a:r>
              <a:rPr lang="en-GB" dirty="0"/>
              <a:t> = </a:t>
            </a:r>
            <a:r>
              <a:rPr lang="en-GB" dirty="0" err="1"/>
              <a:t>pathlib.Path</a:t>
            </a:r>
            <a:r>
              <a:rPr lang="en-GB" dirty="0"/>
              <a:t>('source-code')</a:t>
            </a:r>
          </a:p>
          <a:p>
            <a:r>
              <a:rPr lang="en-GB" dirty="0" err="1"/>
              <a:t>example_dir</a:t>
            </a:r>
            <a:r>
              <a:rPr lang="en-GB" dirty="0"/>
              <a:t> = '/</a:t>
            </a:r>
            <a:r>
              <a:rPr lang="en-GB" dirty="0" err="1"/>
              <a:t>sample_code</a:t>
            </a:r>
            <a:r>
              <a:rPr lang="en-GB" dirty="0"/>
              <a:t>'</a:t>
            </a:r>
          </a:p>
          <a:p>
            <a:r>
              <a:rPr lang="en-GB" dirty="0"/>
              <a:t>for file in </a:t>
            </a:r>
            <a:r>
              <a:rPr lang="en-GB" dirty="0" err="1"/>
              <a:t>source_dir.glob</a:t>
            </a:r>
            <a:r>
              <a:rPr lang="en-GB" dirty="0"/>
              <a:t>('*'):</a:t>
            </a:r>
          </a:p>
          <a:p>
            <a:r>
              <a:rPr lang="en-GB" dirty="0"/>
              <a:t>    Stage0 += copy(</a:t>
            </a:r>
            <a:r>
              <a:rPr lang="en-GB" dirty="0" err="1"/>
              <a:t>src</a:t>
            </a:r>
            <a:r>
              <a:rPr lang="en-GB" dirty="0"/>
              <a:t>=f'{file}', </a:t>
            </a:r>
            <a:r>
              <a:rPr lang="en-GB" dirty="0" err="1"/>
              <a:t>dest</a:t>
            </a:r>
            <a:r>
              <a:rPr lang="en-GB" dirty="0"/>
              <a:t>=f'{</a:t>
            </a:r>
            <a:r>
              <a:rPr lang="en-GB" dirty="0" err="1"/>
              <a:t>example_dir</a:t>
            </a:r>
            <a:r>
              <a:rPr lang="en-GB" dirty="0"/>
              <a:t>}/', _</a:t>
            </a:r>
            <a:r>
              <a:rPr lang="en-GB" dirty="0" err="1"/>
              <a:t>mkdir</a:t>
            </a:r>
            <a:r>
              <a:rPr lang="en-GB" dirty="0"/>
              <a:t>=True)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95E46C0-A802-43A4-9208-7637B5EE45CF}"/>
              </a:ext>
            </a:extLst>
          </p:cNvPr>
          <p:cNvGrpSpPr/>
          <p:nvPr/>
        </p:nvGrpSpPr>
        <p:grpSpPr>
          <a:xfrm>
            <a:off x="3335846" y="2201388"/>
            <a:ext cx="5084583" cy="369332"/>
            <a:chOff x="3335846" y="2201388"/>
            <a:chExt cx="5084583" cy="36933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BD792DB-9287-4A58-9060-34AF3BB60D91}"/>
                </a:ext>
              </a:extLst>
            </p:cNvPr>
            <p:cNvSpPr/>
            <p:nvPr/>
          </p:nvSpPr>
          <p:spPr>
            <a:xfrm>
              <a:off x="3335846" y="2250219"/>
              <a:ext cx="1319916" cy="278296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2174981-54BE-4ED0-A37C-9E49335F3F5F}"/>
                </a:ext>
              </a:extLst>
            </p:cNvPr>
            <p:cNvSpPr txBox="1"/>
            <p:nvPr/>
          </p:nvSpPr>
          <p:spPr>
            <a:xfrm>
              <a:off x="6750659" y="2201388"/>
              <a:ext cx="166977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base OS image</a:t>
              </a:r>
              <a:endParaRPr lang="en-BE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D941071-69E7-4AA4-99EA-141E2C7329DB}"/>
                </a:ext>
              </a:extLst>
            </p:cNvPr>
            <p:cNvCxnSpPr>
              <a:cxnSpLocks/>
              <a:stCxn id="15" idx="1"/>
              <a:endCxn id="8" idx="3"/>
            </p:cNvCxnSpPr>
            <p:nvPr/>
          </p:nvCxnSpPr>
          <p:spPr>
            <a:xfrm flipH="1">
              <a:off x="4655762" y="2386054"/>
              <a:ext cx="2094897" cy="331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014D9BB-AF04-4BD9-84A5-20121777C38F}"/>
              </a:ext>
            </a:extLst>
          </p:cNvPr>
          <p:cNvGrpSpPr/>
          <p:nvPr/>
        </p:nvGrpSpPr>
        <p:grpSpPr>
          <a:xfrm>
            <a:off x="3539657" y="3024412"/>
            <a:ext cx="4880772" cy="369332"/>
            <a:chOff x="3539657" y="3024412"/>
            <a:chExt cx="4880772" cy="36933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16EC1CC-1CE1-49EA-A4C9-BB82B4682483}"/>
                </a:ext>
              </a:extLst>
            </p:cNvPr>
            <p:cNvSpPr/>
            <p:nvPr/>
          </p:nvSpPr>
          <p:spPr>
            <a:xfrm>
              <a:off x="3539657" y="3081419"/>
              <a:ext cx="2272746" cy="278296"/>
            </a:xfrm>
            <a:prstGeom prst="roundRect">
              <a:avLst/>
            </a:prstGeom>
            <a:solidFill>
              <a:schemeClr val="accent2">
                <a:alpha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2EC095E-4651-47AC-BF1A-081F27B68035}"/>
                </a:ext>
              </a:extLst>
            </p:cNvPr>
            <p:cNvSpPr txBox="1"/>
            <p:nvPr/>
          </p:nvSpPr>
          <p:spPr>
            <a:xfrm>
              <a:off x="6750658" y="3024412"/>
              <a:ext cx="166977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OS packages</a:t>
              </a:r>
              <a:endParaRPr lang="en-BE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B85DE68-DA0D-4FF4-9F66-FFBD3FC0DF2B}"/>
                </a:ext>
              </a:extLst>
            </p:cNvPr>
            <p:cNvCxnSpPr>
              <a:cxnSpLocks/>
              <a:stCxn id="19" idx="1"/>
              <a:endCxn id="10" idx="3"/>
            </p:cNvCxnSpPr>
            <p:nvPr/>
          </p:nvCxnSpPr>
          <p:spPr>
            <a:xfrm flipH="1">
              <a:off x="5812403" y="3209078"/>
              <a:ext cx="938255" cy="11489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71E1884-30D9-470F-9469-FAB9CD5CEF54}"/>
              </a:ext>
            </a:extLst>
          </p:cNvPr>
          <p:cNvGrpSpPr/>
          <p:nvPr/>
        </p:nvGrpSpPr>
        <p:grpSpPr>
          <a:xfrm>
            <a:off x="1709531" y="5036741"/>
            <a:ext cx="6756784" cy="1066493"/>
            <a:chOff x="1709531" y="5036741"/>
            <a:chExt cx="6756784" cy="1066493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A25FC1BE-C783-4A31-8073-DA513EC2C01A}"/>
                </a:ext>
              </a:extLst>
            </p:cNvPr>
            <p:cNvSpPr/>
            <p:nvPr/>
          </p:nvSpPr>
          <p:spPr>
            <a:xfrm>
              <a:off x="1709531" y="5824938"/>
              <a:ext cx="5160395" cy="278296"/>
            </a:xfrm>
            <a:prstGeom prst="roundRect">
              <a:avLst/>
            </a:prstGeom>
            <a:solidFill>
              <a:srgbClr val="92D050">
                <a:alpha val="40000"/>
              </a:srgb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7CB3AF9-831B-496F-9794-D60CAED838B8}"/>
                </a:ext>
              </a:extLst>
            </p:cNvPr>
            <p:cNvSpPr txBox="1"/>
            <p:nvPr/>
          </p:nvSpPr>
          <p:spPr>
            <a:xfrm>
              <a:off x="6796544" y="5036741"/>
              <a:ext cx="1669771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copy files</a:t>
              </a:r>
              <a:endParaRPr lang="en-BE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A4F2462-0437-41EA-90FA-EB4AF9C62440}"/>
                </a:ext>
              </a:extLst>
            </p:cNvPr>
            <p:cNvCxnSpPr>
              <a:cxnSpLocks/>
              <a:stCxn id="39" idx="1"/>
            </p:cNvCxnSpPr>
            <p:nvPr/>
          </p:nvCxnSpPr>
          <p:spPr>
            <a:xfrm flipH="1">
              <a:off x="4572000" y="5221407"/>
              <a:ext cx="2224544" cy="56328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FEB8849-1C74-41F9-B85D-02BA71948AD0}"/>
              </a:ext>
            </a:extLst>
          </p:cNvPr>
          <p:cNvGrpSpPr/>
          <p:nvPr/>
        </p:nvGrpSpPr>
        <p:grpSpPr>
          <a:xfrm>
            <a:off x="1513400" y="3341451"/>
            <a:ext cx="6907031" cy="1116122"/>
            <a:chOff x="1513400" y="3341451"/>
            <a:chExt cx="6907031" cy="1116122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AF6D51B-186A-4FEA-A4F2-70CE9B122B9E}"/>
                </a:ext>
              </a:extLst>
            </p:cNvPr>
            <p:cNvSpPr/>
            <p:nvPr/>
          </p:nvSpPr>
          <p:spPr>
            <a:xfrm>
              <a:off x="1513400" y="3341451"/>
              <a:ext cx="1762537" cy="278296"/>
            </a:xfrm>
            <a:prstGeom prst="roundRect">
              <a:avLst/>
            </a:prstGeom>
            <a:solidFill>
              <a:schemeClr val="accent4">
                <a:alpha val="4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0A95EC8-17C7-4D3C-A987-AB5027042527}"/>
                </a:ext>
              </a:extLst>
            </p:cNvPr>
            <p:cNvSpPr/>
            <p:nvPr/>
          </p:nvSpPr>
          <p:spPr>
            <a:xfrm>
              <a:off x="1527977" y="4179277"/>
              <a:ext cx="602973" cy="278296"/>
            </a:xfrm>
            <a:prstGeom prst="roundRect">
              <a:avLst/>
            </a:prstGeom>
            <a:solidFill>
              <a:schemeClr val="accent4">
                <a:alpha val="4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6638D05-B4D5-4F6B-BDA3-731861FEED4E}"/>
                </a:ext>
              </a:extLst>
            </p:cNvPr>
            <p:cNvSpPr txBox="1"/>
            <p:nvPr/>
          </p:nvSpPr>
          <p:spPr>
            <a:xfrm>
              <a:off x="6750659" y="3813407"/>
              <a:ext cx="166977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building blocks</a:t>
              </a:r>
              <a:endParaRPr lang="en-BE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A908B14-5410-4331-9820-4A64E1B8A969}"/>
                </a:ext>
              </a:extLst>
            </p:cNvPr>
            <p:cNvCxnSpPr>
              <a:cxnSpLocks/>
              <a:stCxn id="25" idx="1"/>
              <a:endCxn id="12" idx="3"/>
            </p:cNvCxnSpPr>
            <p:nvPr/>
          </p:nvCxnSpPr>
          <p:spPr>
            <a:xfrm flipH="1" flipV="1">
              <a:off x="3275937" y="3480599"/>
              <a:ext cx="3474722" cy="517474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45824CC-35E0-4FC5-A4BC-CEB2756692D9}"/>
                </a:ext>
              </a:extLst>
            </p:cNvPr>
            <p:cNvCxnSpPr>
              <a:cxnSpLocks/>
              <a:stCxn id="25" idx="1"/>
              <a:endCxn id="14" idx="3"/>
            </p:cNvCxnSpPr>
            <p:nvPr/>
          </p:nvCxnSpPr>
          <p:spPr>
            <a:xfrm flipH="1">
              <a:off x="2130950" y="3998073"/>
              <a:ext cx="4619709" cy="320352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789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9018A-0409-4ED2-8835-EFDB9A1D4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hpccm</a:t>
            </a:r>
            <a:r>
              <a:rPr lang="en-US" dirty="0"/>
              <a:t> to docker/singularity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AF0E6-3CD8-4E50-B093-EA419DF18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a singularity definition file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Generate a </a:t>
            </a:r>
            <a:r>
              <a:rPr lang="en-US" dirty="0" err="1"/>
              <a:t>Dockerfile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754F3F-BA2E-4FE5-9731-B14350975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34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EB592-569B-4705-B02B-473A2E5F24E0}"/>
              </a:ext>
            </a:extLst>
          </p:cNvPr>
          <p:cNvSpPr txBox="1"/>
          <p:nvPr/>
        </p:nvSpPr>
        <p:spPr>
          <a:xfrm>
            <a:off x="791937" y="2400347"/>
            <a:ext cx="4893246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hpccm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--recipe machine.py 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--format singularity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&gt; machine.def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397307-5106-4FC8-96A0-AEF2D108958D}"/>
              </a:ext>
            </a:extLst>
          </p:cNvPr>
          <p:cNvSpPr txBox="1"/>
          <p:nvPr/>
        </p:nvSpPr>
        <p:spPr>
          <a:xfrm>
            <a:off x="791935" y="4421302"/>
            <a:ext cx="4893247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hpccm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--recipe machine.py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--format docker    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&gt;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Dockerfile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712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B5D3-3C20-B320-BB9A-2D7922F4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hpccm</a:t>
            </a:r>
            <a:r>
              <a:rPr lang="en-US" dirty="0"/>
              <a:t> gotchas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DBA45-D033-87BC-4304-1AEC3670B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apt_get</a:t>
            </a:r>
            <a:r>
              <a:rPr lang="en-US" dirty="0"/>
              <a:t> triggers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apt update</a:t>
            </a:r>
          </a:p>
          <a:p>
            <a:pPr lvl="1"/>
            <a:r>
              <a:rPr lang="en-US" dirty="0"/>
              <a:t>Aggregate all packages single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apt_get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Multistage build for </a:t>
            </a:r>
            <a:r>
              <a:rPr lang="en-US" dirty="0" err="1"/>
              <a:t>apptainer</a:t>
            </a:r>
            <a:endParaRPr lang="en-US" dirty="0"/>
          </a:p>
          <a:p>
            <a:pPr lvl="1"/>
            <a:r>
              <a:rPr lang="en-US" dirty="0">
                <a:cs typeface="Courier New" panose="02070309020205020404" pitchFamily="49" charset="0"/>
              </a:rPr>
              <a:t>Name stage 0 in recipe &amp; copy between stages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Specify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--singularity-version 3.2</a:t>
            </a:r>
            <a:r>
              <a:rPr lang="en-US" dirty="0">
                <a:cs typeface="Courier New" panose="02070309020205020404" pitchFamily="49" charset="0"/>
              </a:rPr>
              <a:t> for </a:t>
            </a:r>
            <a:r>
              <a:rPr lang="en-US" dirty="0" err="1">
                <a:cs typeface="Courier New" panose="02070309020205020404" pitchFamily="49" charset="0"/>
              </a:rPr>
              <a:t>hpccm</a:t>
            </a:r>
            <a:endParaRPr lang="en-US" dirty="0">
              <a:cs typeface="Courier New" panose="02070309020205020404" pitchFamily="49" charset="0"/>
            </a:endParaRPr>
          </a:p>
          <a:p>
            <a:pPr lvl="1"/>
            <a:endParaRPr lang="LID4096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AEC55-1BAF-2121-924F-8EA08F9ED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35</a:t>
            </a:fld>
            <a:endParaRPr lang="nl-BE"/>
          </a:p>
        </p:txBody>
      </p:sp>
      <p:pic>
        <p:nvPicPr>
          <p:cNvPr id="5" name="Picture 3" descr="C:\Users\lucg5005\AppData\Local\Microsoft\Windows\Temporary Internet Files\Content.IE5\T8RCCH8G\cute_snail_by_gniyuhs-d4lvbji[1].png">
            <a:extLst>
              <a:ext uri="{FF2B5EF4-FFF2-40B4-BE49-F238E27FC236}">
                <a16:creationId xmlns:a16="http://schemas.microsoft.com/office/drawing/2014/main" id="{D129FA3A-DFB1-21B7-B700-B6FB2E80D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025" y="1705258"/>
            <a:ext cx="594066" cy="594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C:\Users\lucg5005\AppData\Local\Microsoft\Windows\Temporary Internet Files\Content.IE5\CWZUAEH4\lgi01a201309290600[1].jpg">
            <a:extLst>
              <a:ext uri="{FF2B5EF4-FFF2-40B4-BE49-F238E27FC236}">
                <a16:creationId xmlns:a16="http://schemas.microsoft.com/office/drawing/2014/main" id="{AD49E86A-0589-CDB5-F95C-BF342CF6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355" y="2726871"/>
            <a:ext cx="424613" cy="43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09DAA5-B259-E493-E4E8-B0B1F3F65031}"/>
              </a:ext>
            </a:extLst>
          </p:cNvPr>
          <p:cNvSpPr txBox="1"/>
          <p:nvPr/>
        </p:nvSpPr>
        <p:spPr>
          <a:xfrm>
            <a:off x="628650" y="3599016"/>
            <a:ext cx="7464313" cy="1477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ym typeface="Symbol" panose="05050102010706020507" pitchFamily="18" charset="2"/>
              </a:rPr>
              <a:t></a:t>
            </a:r>
            <a:endParaRPr lang="en-GB" dirty="0"/>
          </a:p>
          <a:p>
            <a:r>
              <a:rPr lang="en-GB" dirty="0"/>
              <a:t>Stage0 += </a:t>
            </a:r>
            <a:r>
              <a:rPr lang="en-GB" dirty="0" err="1"/>
              <a:t>baseimage</a:t>
            </a:r>
            <a:r>
              <a:rPr lang="en-GB" dirty="0"/>
              <a:t>(image='ubuntu:20.04', _as='build')</a:t>
            </a:r>
          </a:p>
          <a:p>
            <a:r>
              <a:rPr lang="en-GB" dirty="0">
                <a:sym typeface="Symbol" panose="05050102010706020507" pitchFamily="18" charset="2"/>
              </a:rPr>
              <a:t></a:t>
            </a:r>
            <a:endParaRPr lang="en-GB" dirty="0"/>
          </a:p>
          <a:p>
            <a:r>
              <a:rPr lang="en-GB" dirty="0"/>
              <a:t>Stage1 += copy(</a:t>
            </a:r>
            <a:r>
              <a:rPr lang="en-GB" dirty="0" err="1"/>
              <a:t>src</a:t>
            </a:r>
            <a:r>
              <a:rPr lang="en-GB" dirty="0"/>
              <a:t>='/env.tar.gz', </a:t>
            </a:r>
            <a:r>
              <a:rPr lang="en-GB" dirty="0" err="1"/>
              <a:t>dest</a:t>
            </a:r>
            <a:r>
              <a:rPr lang="en-GB" dirty="0"/>
              <a:t>='/env.tar.gz', _from='build')</a:t>
            </a:r>
          </a:p>
          <a:p>
            <a:r>
              <a:rPr lang="en-GB" dirty="0">
                <a:sym typeface="Symbol" panose="05050102010706020507" pitchFamily="18" charset="2"/>
              </a:rPr>
              <a:t>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3E65EE-3439-D3CA-15E6-23A5907D96BD}"/>
              </a:ext>
            </a:extLst>
          </p:cNvPr>
          <p:cNvSpPr txBox="1"/>
          <p:nvPr/>
        </p:nvSpPr>
        <p:spPr>
          <a:xfrm>
            <a:off x="628650" y="5660966"/>
            <a:ext cx="7464313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hpccm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--recipe machine.py  --format singularity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--singularity-version 3.2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&gt; machine.def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16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7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B214-C504-EEB2-0079-84B7F8393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hpccm</a:t>
            </a:r>
            <a:r>
              <a:rPr lang="en-US" dirty="0"/>
              <a:t> recipe parametrization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158AA-5A16-B66D-D0FA-E0364BB4F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arguments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Specify arguments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B8619-0296-2762-956E-5DF3D16C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36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ADCBC5-60E5-273F-A763-9E51E0574393}"/>
              </a:ext>
            </a:extLst>
          </p:cNvPr>
          <p:cNvSpPr txBox="1"/>
          <p:nvPr/>
        </p:nvSpPr>
        <p:spPr>
          <a:xfrm>
            <a:off x="628650" y="2289759"/>
            <a:ext cx="7464313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sym typeface="Symbol" panose="05050102010706020507" pitchFamily="18" charset="2"/>
              </a:rPr>
              <a:t></a:t>
            </a:r>
            <a:endParaRPr lang="en-GB" dirty="0"/>
          </a:p>
          <a:p>
            <a:r>
              <a:rPr lang="en-GB" dirty="0" err="1"/>
              <a:t>env_file</a:t>
            </a:r>
            <a:r>
              <a:rPr lang="en-GB" dirty="0"/>
              <a:t> = </a:t>
            </a:r>
            <a:r>
              <a:rPr lang="en-GB" dirty="0" err="1"/>
              <a:t>USERARG.get</a:t>
            </a:r>
            <a:r>
              <a:rPr lang="en-GB" dirty="0"/>
              <a:t>('environment', '</a:t>
            </a:r>
            <a:r>
              <a:rPr lang="en-GB" dirty="0" err="1"/>
              <a:t>environment.yml</a:t>
            </a:r>
            <a:r>
              <a:rPr lang="en-GB" dirty="0"/>
              <a:t>')</a:t>
            </a:r>
          </a:p>
          <a:p>
            <a:r>
              <a:rPr lang="en-GB" dirty="0">
                <a:sym typeface="Symbol" panose="05050102010706020507" pitchFamily="18" charset="2"/>
              </a:rPr>
              <a:t>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AC8F07-8308-EE92-D37F-5327F6A93482}"/>
              </a:ext>
            </a:extLst>
          </p:cNvPr>
          <p:cNvGrpSpPr/>
          <p:nvPr/>
        </p:nvGrpSpPr>
        <p:grpSpPr>
          <a:xfrm>
            <a:off x="2920209" y="1640809"/>
            <a:ext cx="2565309" cy="1268646"/>
            <a:chOff x="5039955" y="2151508"/>
            <a:chExt cx="2565309" cy="126864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913413A-8E03-F663-D69C-5731EEFE7E70}"/>
                </a:ext>
              </a:extLst>
            </p:cNvPr>
            <p:cNvSpPr/>
            <p:nvPr/>
          </p:nvSpPr>
          <p:spPr>
            <a:xfrm>
              <a:off x="5039955" y="3128030"/>
              <a:ext cx="1371236" cy="292124"/>
            </a:xfrm>
            <a:prstGeom prst="round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26C5D0-8340-D26B-497C-C343210D5940}"/>
                </a:ext>
              </a:extLst>
            </p:cNvPr>
            <p:cNvSpPr txBox="1"/>
            <p:nvPr/>
          </p:nvSpPr>
          <p:spPr>
            <a:xfrm>
              <a:off x="5778228" y="2151508"/>
              <a:ext cx="182703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Argument name</a:t>
              </a:r>
              <a:endParaRPr lang="en-BE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5727919-B5CE-5CDE-7261-52750E71D143}"/>
                </a:ext>
              </a:extLst>
            </p:cNvPr>
            <p:cNvCxnSpPr>
              <a:cxnSpLocks/>
              <a:stCxn id="8" idx="2"/>
              <a:endCxn id="7" idx="0"/>
            </p:cNvCxnSpPr>
            <p:nvPr/>
          </p:nvCxnSpPr>
          <p:spPr>
            <a:xfrm flipH="1">
              <a:off x="5725573" y="2520840"/>
              <a:ext cx="966173" cy="607190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D543F5-0D4F-D76D-E72A-0238A8CB1C05}"/>
              </a:ext>
            </a:extLst>
          </p:cNvPr>
          <p:cNvGrpSpPr/>
          <p:nvPr/>
        </p:nvGrpSpPr>
        <p:grpSpPr>
          <a:xfrm>
            <a:off x="4384965" y="1695017"/>
            <a:ext cx="4203123" cy="1147724"/>
            <a:chOff x="4035106" y="2201388"/>
            <a:chExt cx="4203123" cy="1147724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DED9365-719A-5290-A7DB-B9BEAC735919}"/>
                </a:ext>
              </a:extLst>
            </p:cNvPr>
            <p:cNvSpPr/>
            <p:nvPr/>
          </p:nvSpPr>
          <p:spPr>
            <a:xfrm>
              <a:off x="4035106" y="3123702"/>
              <a:ext cx="1683328" cy="225410"/>
            </a:xfrm>
            <a:prstGeom prst="roundRect">
              <a:avLst/>
            </a:prstGeom>
            <a:solidFill>
              <a:srgbClr val="FF0000">
                <a:alpha val="4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394D4F-CB11-0302-237B-20B35EAF541A}"/>
                </a:ext>
              </a:extLst>
            </p:cNvPr>
            <p:cNvSpPr txBox="1"/>
            <p:nvPr/>
          </p:nvSpPr>
          <p:spPr>
            <a:xfrm>
              <a:off x="6750659" y="2201388"/>
              <a:ext cx="148757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Default value</a:t>
              </a:r>
              <a:endParaRPr lang="en-BE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78FB484-C2BB-A3DA-91FE-175812F50046}"/>
                </a:ext>
              </a:extLst>
            </p:cNvPr>
            <p:cNvCxnSpPr>
              <a:cxnSpLocks/>
              <a:stCxn id="15" idx="1"/>
              <a:endCxn id="14" idx="3"/>
            </p:cNvCxnSpPr>
            <p:nvPr/>
          </p:nvCxnSpPr>
          <p:spPr>
            <a:xfrm flipH="1">
              <a:off x="5718434" y="2386054"/>
              <a:ext cx="1032225" cy="850353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5E1719BD-4C6C-2F1C-0882-89950F6179AC}"/>
              </a:ext>
            </a:extLst>
          </p:cNvPr>
          <p:cNvSpPr txBox="1"/>
          <p:nvPr/>
        </p:nvSpPr>
        <p:spPr>
          <a:xfrm>
            <a:off x="628650" y="4356206"/>
            <a:ext cx="7464313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hpccm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--recipe machine.py  --format singularity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--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userarg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environment=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env.yml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&gt; machine.def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E910C9D-5E11-FFAC-CBFC-A7F51091540B}"/>
              </a:ext>
            </a:extLst>
          </p:cNvPr>
          <p:cNvGrpSpPr/>
          <p:nvPr/>
        </p:nvGrpSpPr>
        <p:grpSpPr>
          <a:xfrm>
            <a:off x="663713" y="2617331"/>
            <a:ext cx="2994769" cy="1095698"/>
            <a:chOff x="5460116" y="1475022"/>
            <a:chExt cx="2994769" cy="109569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7EBD5A7-0B17-A2D0-588B-890043691A8A}"/>
                </a:ext>
              </a:extLst>
            </p:cNvPr>
            <p:cNvSpPr/>
            <p:nvPr/>
          </p:nvSpPr>
          <p:spPr>
            <a:xfrm>
              <a:off x="5460116" y="1475022"/>
              <a:ext cx="841664" cy="258767"/>
            </a:xfrm>
            <a:prstGeom prst="roundRect">
              <a:avLst/>
            </a:prstGeom>
            <a:solidFill>
              <a:srgbClr val="92D050">
                <a:alpha val="40000"/>
              </a:srgb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39B71C5-DCE9-64BF-8D91-AF0CEB5F95AD}"/>
                </a:ext>
              </a:extLst>
            </p:cNvPr>
            <p:cNvSpPr txBox="1"/>
            <p:nvPr/>
          </p:nvSpPr>
          <p:spPr>
            <a:xfrm>
              <a:off x="6750658" y="2201388"/>
              <a:ext cx="1704227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Python variable</a:t>
              </a:r>
              <a:endParaRPr lang="en-BE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2E36FF5-48F4-B9A7-2BA7-11FB57A2CB29}"/>
                </a:ext>
              </a:extLst>
            </p:cNvPr>
            <p:cNvCxnSpPr>
              <a:cxnSpLocks/>
              <a:stCxn id="30" idx="1"/>
              <a:endCxn id="29" idx="2"/>
            </p:cNvCxnSpPr>
            <p:nvPr/>
          </p:nvCxnSpPr>
          <p:spPr>
            <a:xfrm flipH="1" flipV="1">
              <a:off x="5880948" y="1733789"/>
              <a:ext cx="869710" cy="65226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6559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images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7824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container/execute commands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execute run script</a:t>
            </a:r>
          </a:p>
          <a:p>
            <a:endParaRPr lang="en-US" dirty="0"/>
          </a:p>
          <a:p>
            <a:r>
              <a:rPr lang="en-US" dirty="0"/>
              <a:t>Bound directories</a:t>
            </a:r>
          </a:p>
          <a:p>
            <a:pPr lvl="1"/>
            <a:r>
              <a:rPr lang="en-US" dirty="0"/>
              <a:t>Home directory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/var/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To execute arbitrary command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693966" y="2359483"/>
            <a:ext cx="3631122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run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grace.sif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3966" y="4616866"/>
            <a:ext cx="7629012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exec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grace.sif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gracebat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–data data.dat \</a:t>
            </a:r>
            <a:b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-batch plot.bat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3966" y="5722185"/>
            <a:ext cx="7629012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exec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grace.sif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xmgrace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38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3779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 animBg="1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in workflow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Integration into </a:t>
            </a:r>
            <a:r>
              <a:rPr lang="en-US" dirty="0" err="1"/>
              <a:t>Slurm</a:t>
            </a:r>
            <a:r>
              <a:rPr lang="en-US" dirty="0"/>
              <a:t> job script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Apptainer</a:t>
            </a:r>
            <a:r>
              <a:rPr lang="en-US" dirty="0"/>
              <a:t> images can be used in any workflow</a:t>
            </a:r>
          </a:p>
          <a:p>
            <a:r>
              <a:rPr lang="en-US" dirty="0"/>
              <a:t>Workflow systems may support </a:t>
            </a:r>
            <a:r>
              <a:rPr lang="en-US" dirty="0" err="1"/>
              <a:t>Apptainer</a:t>
            </a:r>
            <a:r>
              <a:rPr lang="en-US" dirty="0"/>
              <a:t>, e.g., 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39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800101" y="2402029"/>
            <a:ext cx="7215437" cy="1754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#!/bin/bash –l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#SBATCH –-nodes=1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#SBATCH –-time=00:30:00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exec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grace.sif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gracebat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–data  data.dat \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-batch plot.bat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B33CC-417F-0BF0-7E32-CA2FB9213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526" y="5311129"/>
            <a:ext cx="1810003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53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shell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execute run shell in image</a:t>
            </a:r>
          </a:p>
          <a:p>
            <a:endParaRPr lang="en-US" dirty="0"/>
          </a:p>
          <a:p>
            <a:r>
              <a:rPr lang="en-US" dirty="0"/>
              <a:t>Defaults to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/bin/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r>
              <a:rPr lang="en-US" dirty="0"/>
              <a:t>, not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/bin/bash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Take care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bash_profile</a:t>
            </a:r>
            <a:r>
              <a:rPr lang="en-BE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bashrc</a:t>
            </a:r>
            <a:r>
              <a:rPr lang="en-US" dirty="0"/>
              <a:t>, might generated errors</a:t>
            </a:r>
          </a:p>
          <a:p>
            <a:r>
              <a:rPr lang="en-US" dirty="0"/>
              <a:t>Alternative if Bash is installed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693965" y="2359483"/>
            <a:ext cx="6215989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shell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development.sif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40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003531-1EA4-EAC1-EE4D-E77B605C1386}"/>
              </a:ext>
            </a:extLst>
          </p:cNvPr>
          <p:cNvSpPr txBox="1"/>
          <p:nvPr/>
        </p:nvSpPr>
        <p:spPr>
          <a:xfrm>
            <a:off x="693966" y="4659467"/>
            <a:ext cx="6112571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exec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development.sif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/bin/bash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21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Directory bindings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Current working directory</a:t>
            </a:r>
          </a:p>
          <a:p>
            <a:pPr lvl="1"/>
            <a:r>
              <a:rPr lang="en-US" dirty="0"/>
              <a:t>where image is executed </a:t>
            </a:r>
            <a:r>
              <a:rPr lang="en-US" i="1" dirty="0"/>
              <a:t>if in parent overlay directory</a:t>
            </a:r>
          </a:p>
          <a:p>
            <a:r>
              <a:rPr lang="en-US" dirty="0"/>
              <a:t>Home directory</a:t>
            </a:r>
          </a:p>
          <a:p>
            <a:pPr lvl="1"/>
            <a:r>
              <a:rPr lang="en-US" dirty="0"/>
              <a:t>bound to user's host home directory</a:t>
            </a:r>
          </a:p>
          <a:p>
            <a:r>
              <a:rPr lang="en-US" dirty="0"/>
              <a:t>Additional bindings, command line option: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-B &lt;host-path&gt;:&lt;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-mount-point&gt;</a:t>
            </a:r>
          </a:p>
          <a:p>
            <a:pPr lvl="1"/>
            <a:r>
              <a:rPr lang="en-US" dirty="0"/>
              <a:t>e.g., 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-B ~/Data:/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/data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-B $VSC_DATA</a:t>
            </a:r>
          </a:p>
          <a:p>
            <a:pPr lvl="1"/>
            <a:r>
              <a:rPr lang="en-US" dirty="0"/>
              <a:t>Note: mount point </a:t>
            </a:r>
            <a:r>
              <a:rPr lang="en-US" b="1" i="1" dirty="0"/>
              <a:t>must</a:t>
            </a:r>
            <a:r>
              <a:rPr lang="en-US" dirty="0"/>
              <a:t> exist, unless overlays work, e.g.,</a:t>
            </a:r>
            <a:br>
              <a:rPr lang="en-US" dirty="0"/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-B /data/analysis</a:t>
            </a:r>
          </a:p>
          <a:p>
            <a:pPr lvl="1"/>
            <a:r>
              <a:rPr lang="en-US" dirty="0"/>
              <a:t>as many as required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41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46079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88369-12A7-5607-CA63-6A0C12804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217B4-19AD-5C13-485F-303FD2FCC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2E7CA-7BF4-5704-B676-B094689F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42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50015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F630D-5AF9-D862-8FDA-CAB54ACB6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Boon for developers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0C711-26CC-6B97-8C06-4A8AB77F6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 image</a:t>
            </a:r>
          </a:p>
          <a:p>
            <a:pPr lvl="1"/>
            <a:r>
              <a:rPr lang="en-US" dirty="0"/>
              <a:t>OS of choice</a:t>
            </a:r>
          </a:p>
          <a:p>
            <a:pPr lvl="1"/>
            <a:r>
              <a:rPr lang="en-US" dirty="0"/>
              <a:t>Required tools</a:t>
            </a:r>
          </a:p>
          <a:p>
            <a:pPr lvl="2"/>
            <a:r>
              <a:rPr lang="en-US" dirty="0"/>
              <a:t>Editor of choice</a:t>
            </a:r>
          </a:p>
          <a:p>
            <a:pPr lvl="2"/>
            <a:r>
              <a:rPr lang="en-US" dirty="0"/>
              <a:t>Compilers/</a:t>
            </a:r>
            <a:r>
              <a:rPr lang="en-US" dirty="0" err="1"/>
              <a:t>CMake</a:t>
            </a:r>
            <a:r>
              <a:rPr lang="en-US" dirty="0"/>
              <a:t>/</a:t>
            </a:r>
            <a:r>
              <a:rPr lang="en-US" dirty="0">
                <a:sym typeface="Symbol" panose="05050102010706020507" pitchFamily="18" charset="2"/>
              </a:rPr>
              <a:t></a:t>
            </a:r>
            <a:endParaRPr lang="en-US" dirty="0"/>
          </a:p>
          <a:p>
            <a:pPr lvl="2"/>
            <a:r>
              <a:rPr lang="en-US" dirty="0" err="1"/>
              <a:t>gdb</a:t>
            </a:r>
            <a:r>
              <a:rPr lang="en-US" dirty="0"/>
              <a:t>/</a:t>
            </a:r>
            <a:r>
              <a:rPr lang="en-US" dirty="0" err="1"/>
              <a:t>gprof</a:t>
            </a:r>
            <a:r>
              <a:rPr lang="en-US" dirty="0"/>
              <a:t>/ hyperfine/</a:t>
            </a:r>
            <a:r>
              <a:rPr lang="en-US" dirty="0">
                <a:sym typeface="Symbol" panose="05050102010706020507" pitchFamily="18" charset="2"/>
              </a:rPr>
              <a:t> </a:t>
            </a:r>
            <a:endParaRPr lang="en-US" dirty="0"/>
          </a:p>
          <a:p>
            <a:pPr lvl="2"/>
            <a:r>
              <a:rPr lang="en-US" dirty="0">
                <a:sym typeface="Symbol" panose="05050102010706020507" pitchFamily="18" charset="2"/>
              </a:rPr>
              <a:t></a:t>
            </a:r>
            <a:endParaRPr lang="en-US" dirty="0"/>
          </a:p>
          <a:p>
            <a:pPr lvl="1"/>
            <a:r>
              <a:rPr lang="en-US" dirty="0"/>
              <a:t>Required libraries</a:t>
            </a:r>
          </a:p>
          <a:p>
            <a:pPr lvl="2"/>
            <a:r>
              <a:rPr lang="en-US" dirty="0"/>
              <a:t>Boost/</a:t>
            </a:r>
            <a:r>
              <a:rPr lang="en-US" dirty="0" err="1"/>
              <a:t>OpenBLAS</a:t>
            </a:r>
            <a:r>
              <a:rPr lang="en-US" dirty="0"/>
              <a:t>/</a:t>
            </a:r>
            <a:r>
              <a:rPr lang="en-US" dirty="0">
                <a:sym typeface="Symbol" panose="05050102010706020507" pitchFamily="18" charset="2"/>
              </a:rPr>
              <a:t></a:t>
            </a:r>
          </a:p>
          <a:p>
            <a:r>
              <a:rPr lang="en-US" dirty="0">
                <a:sym typeface="Symbol" panose="05050102010706020507" pitchFamily="18" charset="2"/>
              </a:rPr>
              <a:t>Configuration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Host home directory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bashrc</a:t>
            </a:r>
            <a:r>
              <a:rPr lang="en-US" dirty="0">
                <a:sym typeface="Symbol" panose="05050102010706020507" pitchFamily="18" charset="2"/>
              </a:rPr>
              <a:t>/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vimrc</a:t>
            </a:r>
            <a:r>
              <a:rPr lang="en-US" dirty="0">
                <a:sym typeface="Symbol" panose="05050102010706020507" pitchFamily="18" charset="2"/>
              </a:rPr>
              <a:t>/ </a:t>
            </a:r>
          </a:p>
          <a:p>
            <a:r>
              <a:rPr lang="en-US" dirty="0">
                <a:sym typeface="Symbol" panose="05050102010706020507" pitchFamily="18" charset="2"/>
              </a:rPr>
              <a:t>Part of project via git + DVC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635DB-C9F7-F2B9-CF0F-7E93D92F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43</a:t>
            </a:fld>
            <a:endParaRPr lang="nl-BE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D5CAF9A-6E0E-1B44-5C65-FC6540FFAD7F}"/>
              </a:ext>
            </a:extLst>
          </p:cNvPr>
          <p:cNvGrpSpPr/>
          <p:nvPr/>
        </p:nvGrpSpPr>
        <p:grpSpPr>
          <a:xfrm>
            <a:off x="4720583" y="2686050"/>
            <a:ext cx="3846209" cy="1826609"/>
            <a:chOff x="4720583" y="2686050"/>
            <a:chExt cx="3846209" cy="182660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408182-D01F-DB6D-CBF7-75E42AC3F63E}"/>
                </a:ext>
              </a:extLst>
            </p:cNvPr>
            <p:cNvSpPr txBox="1"/>
            <p:nvPr/>
          </p:nvSpPr>
          <p:spPr>
            <a:xfrm>
              <a:off x="4720583" y="3127664"/>
              <a:ext cx="3474734" cy="13849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Stable, reproducible,</a:t>
              </a:r>
              <a:br>
                <a:rPr lang="en-US" sz="2800" dirty="0"/>
              </a:br>
              <a:r>
                <a:rPr lang="en-US" sz="2800" dirty="0"/>
                <a:t>per project, shareable,</a:t>
              </a:r>
              <a:br>
                <a:rPr lang="en-US" sz="2800" dirty="0"/>
              </a:br>
              <a:r>
                <a:rPr lang="en-US" sz="2800" dirty="0"/>
                <a:t>zero-config</a:t>
              </a:r>
              <a:endParaRPr lang="LID4096" sz="2800" dirty="0"/>
            </a:p>
          </p:txBody>
        </p:sp>
        <p:pic>
          <p:nvPicPr>
            <p:cNvPr id="7" name="Graphic 6" descr="Thumbs up sign with solid fill">
              <a:extLst>
                <a:ext uri="{FF2B5EF4-FFF2-40B4-BE49-F238E27FC236}">
                  <a16:creationId xmlns:a16="http://schemas.microsoft.com/office/drawing/2014/main" id="{889949DB-3CE5-C27B-9EB1-25CDC88889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823842" y="2686050"/>
              <a:ext cx="742950" cy="742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022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7AD92-71A8-7E2F-1FC6-42723E309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images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B81B1-19B2-0058-0700-D99FC7081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Intel </a:t>
            </a:r>
            <a:r>
              <a:rPr lang="en-US" dirty="0" err="1"/>
              <a:t>OneAPI</a:t>
            </a:r>
            <a:br>
              <a:rPr lang="en-US" dirty="0"/>
            </a:br>
            <a:r>
              <a:rPr lang="en-US" sz="2000" dirty="0">
                <a:hlinkClick r:id="rId2"/>
              </a:rPr>
              <a:t>https://github.com/intel/oneapi-containers</a:t>
            </a:r>
            <a:r>
              <a:rPr lang="en-US" sz="2000" dirty="0"/>
              <a:t> </a:t>
            </a:r>
          </a:p>
          <a:p>
            <a:pPr lvl="1"/>
            <a:r>
              <a:rPr lang="en-US" dirty="0"/>
              <a:t>C/C++/Fortran compilers</a:t>
            </a:r>
          </a:p>
          <a:p>
            <a:pPr lvl="1"/>
            <a:r>
              <a:rPr lang="en-US" dirty="0"/>
              <a:t>SYCL/TBB</a:t>
            </a:r>
          </a:p>
          <a:p>
            <a:pPr lvl="1"/>
            <a:r>
              <a:rPr lang="en-US" dirty="0"/>
              <a:t>MKL</a:t>
            </a:r>
          </a:p>
          <a:p>
            <a:pPr lvl="1"/>
            <a:r>
              <a:rPr lang="en-US" dirty="0"/>
              <a:t>MPI</a:t>
            </a:r>
          </a:p>
          <a:p>
            <a:r>
              <a:rPr lang="en-US" dirty="0"/>
              <a:t>NVIDIA HPC Toolkit</a:t>
            </a:r>
            <a:br>
              <a:rPr lang="en-US" dirty="0"/>
            </a:br>
            <a:r>
              <a:rPr lang="en-US" sz="2000" dirty="0">
                <a:hlinkClick r:id="rId3"/>
              </a:rPr>
              <a:t>https://catalog.ngc.nvidia.com/orgs/nvidia/containers/nvhpc</a:t>
            </a:r>
            <a:r>
              <a:rPr lang="en-US" sz="2000" dirty="0"/>
              <a:t>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FCBED-2927-C601-A960-5E8BD754E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44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05044-A9BE-FB01-CB5F-F1C25A7E0A8A}"/>
              </a:ext>
            </a:extLst>
          </p:cNvPr>
          <p:cNvSpPr txBox="1"/>
          <p:nvPr/>
        </p:nvSpPr>
        <p:spPr>
          <a:xfrm>
            <a:off x="2576945" y="5455230"/>
            <a:ext cx="379328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Add your own requirements!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211119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Multithreaded applications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45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337346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recipe file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46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28653" y="1438644"/>
            <a:ext cx="6628738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BootStrap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debootstrap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OSVersion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xenial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MirrorURL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http://us.archive.ubuntu.com/ubuntu/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%post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's/$/ universe/'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/apt/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sources.list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update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build-essential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cd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clone https://github.com/gjbex/training-material.git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cd training-material/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HybridPi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make clean pi_openmp.exe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pi_openmp.exe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/bin/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cd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training-material/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906236" y="3378169"/>
            <a:ext cx="6294005" cy="1563116"/>
            <a:chOff x="963386" y="4898572"/>
            <a:chExt cx="6294005" cy="1563116"/>
          </a:xfrm>
        </p:grpSpPr>
        <p:sp>
          <p:nvSpPr>
            <p:cNvPr id="19" name="Rounded Rectangle 18"/>
            <p:cNvSpPr/>
            <p:nvPr/>
          </p:nvSpPr>
          <p:spPr>
            <a:xfrm>
              <a:off x="963386" y="4898572"/>
              <a:ext cx="6294005" cy="1563116"/>
            </a:xfrm>
            <a:prstGeom prst="roundRect">
              <a:avLst/>
            </a:prstGeom>
            <a:solidFill>
              <a:srgbClr val="00B050">
                <a:alpha val="2117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14900" y="5647313"/>
              <a:ext cx="2075568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Download, build,</a:t>
              </a:r>
              <a:br>
                <a:rPr lang="en-US" dirty="0"/>
              </a:br>
              <a:r>
                <a:rPr lang="en-US" dirty="0"/>
                <a:t>install own software</a:t>
              </a:r>
              <a:endParaRPr lang="nl-BE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734630" y="2764207"/>
            <a:ext cx="2780720" cy="595175"/>
            <a:chOff x="4923064" y="3041789"/>
            <a:chExt cx="2780720" cy="595175"/>
          </a:xfrm>
        </p:grpSpPr>
        <p:sp>
          <p:nvSpPr>
            <p:cNvPr id="23" name="Right Brace 22"/>
            <p:cNvSpPr/>
            <p:nvPr/>
          </p:nvSpPr>
          <p:spPr>
            <a:xfrm>
              <a:off x="4923064" y="3241222"/>
              <a:ext cx="122465" cy="395742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24" name="Straight Connector 23"/>
            <p:cNvCxnSpPr>
              <a:endCxn id="25" idx="1"/>
            </p:cNvCxnSpPr>
            <p:nvPr/>
          </p:nvCxnSpPr>
          <p:spPr>
            <a:xfrm flipV="1">
              <a:off x="5110843" y="3226455"/>
              <a:ext cx="791935" cy="2119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902778" y="3041789"/>
              <a:ext cx="180100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Build tools</a:t>
              </a:r>
              <a:endParaRPr lang="nl-BE" dirty="0"/>
            </a:p>
          </p:txBody>
        </p:sp>
      </p:grpSp>
    </p:spTree>
    <p:extLst>
      <p:ext uri="{BB962C8B-B14F-4D97-AF65-F5344CB8AC3E}">
        <p14:creationId xmlns:p14="http://schemas.microsoft.com/office/powerpoint/2010/main" val="84895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OpenMP</a:t>
            </a:r>
            <a:r>
              <a:rPr lang="en-US" dirty="0"/>
              <a:t> application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Slurm</a:t>
            </a:r>
            <a:r>
              <a:rPr lang="en-US" dirty="0"/>
              <a:t> job script, e.g., scaling test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47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293917" y="2402029"/>
            <a:ext cx="6388287" cy="25853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#!/bin/bash -l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#SBATCH --nodes=1 –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ntasks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=1 –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-per-task=28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#SBATCH --time=00:05:00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num_threads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 1 2 4 8 16 24 28; do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export OMP_NUM_THREADS=$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num_threads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time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exec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xenial_openmpi.sif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pi_openmp.exe 100000000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917" y="5720738"/>
            <a:ext cx="805797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Note: compiler version in image need </a:t>
            </a:r>
            <a:r>
              <a:rPr lang="en-US" sz="2400" i="1" dirty="0"/>
              <a:t>not</a:t>
            </a:r>
            <a:r>
              <a:rPr lang="en-US" sz="2400" dirty="0"/>
              <a:t> be same as on host</a:t>
            </a:r>
            <a:endParaRPr lang="nl-BE" sz="2400" dirty="0"/>
          </a:p>
        </p:txBody>
      </p:sp>
    </p:spTree>
    <p:extLst>
      <p:ext uri="{BB962C8B-B14F-4D97-AF65-F5344CB8AC3E}">
        <p14:creationId xmlns:p14="http://schemas.microsoft.com/office/powerpoint/2010/main" val="88326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applications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48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724216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recipe file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49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628653" y="1438644"/>
            <a:ext cx="6628738" cy="50475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BootStrap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debootstrap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OSVersion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xenial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MirrorURL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http://us.archive.ubuntu.com/ubuntu/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%post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's/$/ universe/'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/apt/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sources.list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update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libmlx4-dev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libmlx5-dev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libibverbs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-dev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ibverbs-utils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libopenmpi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-dev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openmpi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-bin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openmpi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-common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build-essential</a:t>
            </a:r>
            <a:b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apt-get -y install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cd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clone https://github.com/gjbex/training-material.git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cd training-material/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HybridPi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make clean pi_mpi.exe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pi_mpi.exe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/bin/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cd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training-material/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274128" y="2535611"/>
            <a:ext cx="2780720" cy="1293443"/>
            <a:chOff x="4923064" y="2764207"/>
            <a:chExt cx="2780720" cy="1293443"/>
          </a:xfrm>
        </p:grpSpPr>
        <p:sp>
          <p:nvSpPr>
            <p:cNvPr id="6" name="Right Brace 5"/>
            <p:cNvSpPr/>
            <p:nvPr/>
          </p:nvSpPr>
          <p:spPr>
            <a:xfrm>
              <a:off x="4923064" y="3241221"/>
              <a:ext cx="122465" cy="816429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8" name="Straight Connector 7"/>
            <p:cNvCxnSpPr>
              <a:endCxn id="11" idx="1"/>
            </p:cNvCxnSpPr>
            <p:nvPr/>
          </p:nvCxnSpPr>
          <p:spPr>
            <a:xfrm flipV="1">
              <a:off x="5110843" y="3087373"/>
              <a:ext cx="791935" cy="5620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902778" y="2764207"/>
              <a:ext cx="1801006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Mellanox</a:t>
              </a:r>
              <a:r>
                <a:rPr lang="en-US" dirty="0"/>
                <a:t> drivers,</a:t>
              </a:r>
              <a:br>
                <a:rPr lang="en-US" dirty="0"/>
              </a:br>
              <a:r>
                <a:rPr lang="en-US" dirty="0"/>
                <a:t>IB verbs</a:t>
              </a:r>
              <a:endParaRPr lang="nl-BE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274128" y="3396344"/>
            <a:ext cx="2754174" cy="987879"/>
            <a:chOff x="4923064" y="2764207"/>
            <a:chExt cx="2754174" cy="987879"/>
          </a:xfrm>
        </p:grpSpPr>
        <p:sp>
          <p:nvSpPr>
            <p:cNvPr id="15" name="Right Brace 14"/>
            <p:cNvSpPr/>
            <p:nvPr/>
          </p:nvSpPr>
          <p:spPr>
            <a:xfrm>
              <a:off x="4923064" y="3241221"/>
              <a:ext cx="122465" cy="51086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6" name="Straight Connector 15"/>
            <p:cNvCxnSpPr>
              <a:endCxn id="17" idx="1"/>
            </p:cNvCxnSpPr>
            <p:nvPr/>
          </p:nvCxnSpPr>
          <p:spPr>
            <a:xfrm flipV="1">
              <a:off x="5110843" y="3087373"/>
              <a:ext cx="791935" cy="4034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5902778" y="2764207"/>
              <a:ext cx="1774460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Open MPI library</a:t>
              </a:r>
              <a:br>
                <a:rPr lang="en-US" dirty="0"/>
              </a:br>
              <a:r>
                <a:rPr lang="en-US" dirty="0"/>
                <a:t>and tools</a:t>
              </a:r>
              <a:endParaRPr lang="nl-BE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63386" y="4898572"/>
            <a:ext cx="6294005" cy="1563116"/>
            <a:chOff x="963386" y="4898572"/>
            <a:chExt cx="6294005" cy="1563116"/>
          </a:xfrm>
        </p:grpSpPr>
        <p:sp>
          <p:nvSpPr>
            <p:cNvPr id="19" name="Rounded Rectangle 18"/>
            <p:cNvSpPr/>
            <p:nvPr/>
          </p:nvSpPr>
          <p:spPr>
            <a:xfrm>
              <a:off x="963386" y="4898572"/>
              <a:ext cx="6294005" cy="1563116"/>
            </a:xfrm>
            <a:prstGeom prst="roundRect">
              <a:avLst/>
            </a:prstGeom>
            <a:solidFill>
              <a:srgbClr val="00B050">
                <a:alpha val="21176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14900" y="5647313"/>
              <a:ext cx="2075568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Download, build,</a:t>
              </a:r>
              <a:br>
                <a:rPr lang="en-US" dirty="0"/>
              </a:br>
              <a:r>
                <a:rPr lang="en-US" dirty="0"/>
                <a:t>install own software</a:t>
              </a:r>
              <a:endParaRPr lang="nl-BE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274128" y="4240691"/>
            <a:ext cx="2780720" cy="595175"/>
            <a:chOff x="4923064" y="3041789"/>
            <a:chExt cx="2780720" cy="595175"/>
          </a:xfrm>
        </p:grpSpPr>
        <p:sp>
          <p:nvSpPr>
            <p:cNvPr id="23" name="Right Brace 22"/>
            <p:cNvSpPr/>
            <p:nvPr/>
          </p:nvSpPr>
          <p:spPr>
            <a:xfrm>
              <a:off x="4923064" y="3241222"/>
              <a:ext cx="122465" cy="395742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24" name="Straight Connector 23"/>
            <p:cNvCxnSpPr>
              <a:endCxn id="25" idx="1"/>
            </p:cNvCxnSpPr>
            <p:nvPr/>
          </p:nvCxnSpPr>
          <p:spPr>
            <a:xfrm flipV="1">
              <a:off x="5110843" y="3226455"/>
              <a:ext cx="791935" cy="2119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902778" y="3041789"/>
              <a:ext cx="1801006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Build tools</a:t>
              </a:r>
              <a:endParaRPr lang="nl-BE" dirty="0"/>
            </a:p>
          </p:txBody>
        </p:sp>
      </p:grpSp>
    </p:spTree>
    <p:extLst>
      <p:ext uri="{BB962C8B-B14F-4D97-AF65-F5344CB8AC3E}">
        <p14:creationId xmlns:p14="http://schemas.microsoft.com/office/powerpoint/2010/main" val="316688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MPI application</a:t>
            </a:r>
            <a:endParaRPr lang="nl-B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Slurm</a:t>
            </a:r>
            <a:r>
              <a:rPr lang="en-US" dirty="0"/>
              <a:t> job script</a:t>
            </a:r>
            <a:endParaRPr lang="nl-B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50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293917" y="2402029"/>
            <a:ext cx="8180445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#!/bin/bash -l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#SBATCH --nodes=2 –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ntasks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-per-node=36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#SBATCH --time=00:05:00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module load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foss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/2016a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mpirun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mca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orte_tmpdir_base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\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exec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xenial_openmpi.sif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pi_mpi.exe 100000000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9084" y="5429250"/>
            <a:ext cx="663995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Note: Open MPI version in image is same as on host</a:t>
            </a:r>
            <a:endParaRPr lang="nl-BE" sz="2400" dirty="0"/>
          </a:p>
        </p:txBody>
      </p:sp>
    </p:spTree>
    <p:extLst>
      <p:ext uri="{BB962C8B-B14F-4D97-AF65-F5344CB8AC3E}">
        <p14:creationId xmlns:p14="http://schemas.microsoft.com/office/powerpoint/2010/main" val="196003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D181-C389-C427-6015-74C31116D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applications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23273-688E-45EB-E7D7-FFB6B40A2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1F6D4-ABD9-3D7A-F655-0B5D202C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51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501576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77C462-9706-B3CD-9114-DF6262C46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GPUs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57F33C-31CB-B832-800E-ADC8C0491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apptainer</a:t>
            </a:r>
            <a:r>
              <a:rPr lang="en-US" dirty="0"/>
              <a:t> works well with GPUs</a:t>
            </a:r>
          </a:p>
          <a:p>
            <a:pPr lvl="1"/>
            <a:r>
              <a:rPr lang="en-US" dirty="0"/>
              <a:t>NVIDIA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AMD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rocm</a:t>
            </a:r>
            <a:r>
              <a:rPr lang="en-US" dirty="0"/>
              <a:t>)</a:t>
            </a:r>
          </a:p>
          <a:p>
            <a:r>
              <a:rPr lang="en-US" dirty="0"/>
              <a:t>Will bind drivers/libraries/tools from host</a:t>
            </a:r>
          </a:p>
          <a:p>
            <a:r>
              <a:rPr lang="en-US" dirty="0"/>
              <a:t>Build image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image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17D37-6FE8-7E82-3CF5-93CD6E576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52</a:t>
            </a:fld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2C118-3D25-D10B-CA21-41238C7247CF}"/>
              </a:ext>
            </a:extLst>
          </p:cNvPr>
          <p:cNvSpPr txBox="1"/>
          <p:nvPr/>
        </p:nvSpPr>
        <p:spPr>
          <a:xfrm>
            <a:off x="1241713" y="4086905"/>
            <a:ext cx="6388286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build --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nv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–-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fakeroot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gpu_dev.sif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gpu_dev.def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EFD40-DDB8-35A0-EDBE-75000B6439BD}"/>
              </a:ext>
            </a:extLst>
          </p:cNvPr>
          <p:cNvSpPr txBox="1"/>
          <p:nvPr/>
        </p:nvSpPr>
        <p:spPr>
          <a:xfrm>
            <a:off x="1241712" y="5634395"/>
            <a:ext cx="638828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exec --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nv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gpu_dev.sif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/bin/bash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7A9ACA-E368-7FD3-108C-CC8CB14191D0}"/>
              </a:ext>
            </a:extLst>
          </p:cNvPr>
          <p:cNvGrpSpPr/>
          <p:nvPr/>
        </p:nvGrpSpPr>
        <p:grpSpPr>
          <a:xfrm>
            <a:off x="4946072" y="786501"/>
            <a:ext cx="4031080" cy="1384995"/>
            <a:chOff x="4946072" y="786501"/>
            <a:chExt cx="4031080" cy="138499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51E36C3-ECDA-FDB6-912D-C9C17A7EC361}"/>
                </a:ext>
              </a:extLst>
            </p:cNvPr>
            <p:cNvSpPr txBox="1"/>
            <p:nvPr/>
          </p:nvSpPr>
          <p:spPr>
            <a:xfrm rot="1067759">
              <a:off x="4946072" y="786501"/>
              <a:ext cx="3732560" cy="13849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/>
                <a:t>Do </a:t>
              </a:r>
              <a:r>
                <a:rPr lang="en-US" sz="2800" i="1" dirty="0"/>
                <a:t>not</a:t>
              </a:r>
              <a:r>
                <a:rPr lang="en-US" sz="2800" dirty="0"/>
                <a:t> install</a:t>
              </a:r>
            </a:p>
            <a:p>
              <a:pPr algn="ctr"/>
              <a:r>
                <a:rPr lang="en-US" sz="2800" dirty="0"/>
                <a:t>drivers/runtime libraries</a:t>
              </a:r>
            </a:p>
            <a:p>
              <a:pPr algn="ctr"/>
              <a:r>
                <a:rPr lang="en-US" sz="2800" dirty="0"/>
                <a:t>in image!</a:t>
              </a:r>
              <a:endParaRPr lang="LID4096" sz="2800" dirty="0"/>
            </a:p>
          </p:txBody>
        </p:sp>
        <p:pic>
          <p:nvPicPr>
            <p:cNvPr id="10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24FAA368-FD55-1434-C3AE-2979472BB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0502" y="862080"/>
              <a:ext cx="596650" cy="612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0137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A102-5410-4356-62AF-DF46D7CC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on GPUs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2D71A-BD9C-F24B-A236-0A54145A9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Development libraries required</a:t>
            </a:r>
          </a:p>
          <a:p>
            <a:r>
              <a:rPr lang="en-US" dirty="0"/>
              <a:t>NVIDIA NGC: container catalog</a:t>
            </a:r>
            <a:br>
              <a:rPr lang="en-US" dirty="0"/>
            </a:br>
            <a:r>
              <a:rPr lang="en-US" sz="2400" dirty="0">
                <a:hlinkClick r:id="rId2"/>
              </a:rPr>
              <a:t>https://catalog.ngc.nvidia.com/containers</a:t>
            </a:r>
            <a:r>
              <a:rPr lang="en-US" sz="2400" dirty="0"/>
              <a:t> </a:t>
            </a:r>
            <a:endParaRPr lang="en-US" dirty="0"/>
          </a:p>
          <a:p>
            <a:pPr lvl="1"/>
            <a:r>
              <a:rPr lang="en-US" dirty="0"/>
              <a:t>NVIDIA HPC SDK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PyTorch</a:t>
            </a:r>
            <a:r>
              <a:rPr lang="en-US" dirty="0"/>
              <a:t> Lightning</a:t>
            </a:r>
          </a:p>
          <a:p>
            <a:pPr lvl="1"/>
            <a:r>
              <a:rPr lang="en-US" dirty="0"/>
              <a:t>TensorFlow</a:t>
            </a:r>
          </a:p>
          <a:p>
            <a:pPr lvl="1"/>
            <a:r>
              <a:rPr lang="en-US" dirty="0"/>
              <a:t>RAPIDS/RAPIDS Notebooks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</a:t>
            </a:r>
          </a:p>
          <a:p>
            <a:r>
              <a:rPr lang="en-US" dirty="0">
                <a:sym typeface="Symbol" panose="05050102010706020507" pitchFamily="18" charset="2"/>
              </a:rPr>
              <a:t>AMD Instinct</a:t>
            </a:r>
            <a:br>
              <a:rPr lang="en-US" dirty="0">
                <a:sym typeface="Symbol" panose="05050102010706020507" pitchFamily="18" charset="2"/>
              </a:rPr>
            </a:br>
            <a:r>
              <a:rPr lang="en-US" sz="2400" dirty="0">
                <a:sym typeface="Symbol" panose="05050102010706020507" pitchFamily="18" charset="2"/>
                <a:hlinkClick r:id="rId3"/>
              </a:rPr>
              <a:t>https://instinct.docs.amd.com/projects/container-toolkit/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597EE-A522-7690-D5D4-94B343EBC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53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6529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54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601718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runs service, e.g.,</a:t>
            </a:r>
          </a:p>
          <a:p>
            <a:pPr lvl="1"/>
            <a:r>
              <a:rPr lang="en-US" dirty="0"/>
              <a:t>web server</a:t>
            </a:r>
          </a:p>
          <a:p>
            <a:pPr lvl="1"/>
            <a:r>
              <a:rPr lang="en-US" dirty="0"/>
              <a:t>RDBMS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Workflow</a:t>
            </a:r>
          </a:p>
          <a:p>
            <a:pPr lvl="1"/>
            <a:r>
              <a:rPr lang="en-US" dirty="0"/>
              <a:t>start service</a:t>
            </a:r>
          </a:p>
          <a:p>
            <a:pPr lvl="1"/>
            <a:r>
              <a:rPr lang="en-US" dirty="0"/>
              <a:t>client(s) interaction</a:t>
            </a:r>
          </a:p>
          <a:p>
            <a:pPr lvl="1"/>
            <a:r>
              <a:rPr lang="en-US" dirty="0"/>
              <a:t>stop service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55</a:t>
            </a:fld>
            <a:endParaRPr lang="nl-BE"/>
          </a:p>
        </p:txBody>
      </p:sp>
      <p:sp>
        <p:nvSpPr>
          <p:cNvPr id="5" name="TextBox 4"/>
          <p:cNvSpPr txBox="1"/>
          <p:nvPr/>
        </p:nvSpPr>
        <p:spPr>
          <a:xfrm>
            <a:off x="2242987" y="3539629"/>
            <a:ext cx="436375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Processes need to be cleaned up!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8046" y="4835497"/>
            <a:ext cx="178870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err="1"/>
              <a:t>Apptainer</a:t>
            </a:r>
            <a:r>
              <a:rPr lang="en-US" sz="2800" dirty="0"/>
              <a:t> instances</a:t>
            </a:r>
          </a:p>
        </p:txBody>
      </p:sp>
    </p:spTree>
    <p:extLst>
      <p:ext uri="{BB962C8B-B14F-4D97-AF65-F5344CB8AC3E}">
        <p14:creationId xmlns:p14="http://schemas.microsoft.com/office/powerpoint/2010/main" val="224308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 animBg="1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service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56</a:t>
            </a:fld>
            <a:endParaRPr lang="nl-BE"/>
          </a:p>
        </p:txBody>
      </p:sp>
      <p:grpSp>
        <p:nvGrpSpPr>
          <p:cNvPr id="8" name="Group 7"/>
          <p:cNvGrpSpPr/>
          <p:nvPr/>
        </p:nvGrpSpPr>
        <p:grpSpPr>
          <a:xfrm>
            <a:off x="164757" y="1408670"/>
            <a:ext cx="7941275" cy="5263696"/>
            <a:chOff x="164757" y="1408670"/>
            <a:chExt cx="7941275" cy="5263696"/>
          </a:xfrm>
        </p:grpSpPr>
        <p:sp>
          <p:nvSpPr>
            <p:cNvPr id="5" name="TextBox 4"/>
            <p:cNvSpPr txBox="1"/>
            <p:nvPr/>
          </p:nvSpPr>
          <p:spPr>
            <a:xfrm>
              <a:off x="164757" y="1408670"/>
              <a:ext cx="7941275" cy="526297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#!/bin/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sh</a:t>
              </a:r>
              <a:endParaRPr lang="en-US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### BEGIN INIT INFO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…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### END INIT INFO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DESC="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Alpino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server"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NAME=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alpino</a:t>
              </a:r>
              <a:endParaRPr lang="en-US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case "$1" in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start)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alpino_server_port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=$(cat /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conf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port_nr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nohup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/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Alpino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/bin/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Alpino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           \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-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notk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-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veryfast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user_max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=20000 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server_kind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=parse \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server_port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="${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alpino_server_port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}" -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init_dict_p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\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batch_command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=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alpino_server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           \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</a:t>
              </a: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assume_input_is_tokenized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=off                     \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    &gt; /dev/null 2&gt; /dev/null &lt; /dev/null &amp;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;;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stop)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echo “stopping ${NAME} service…”</a:t>
              </a: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 ;;</a:t>
              </a:r>
            </a:p>
            <a:p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esac</a:t>
              </a:r>
              <a:endParaRPr lang="en-US" sz="1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exit 0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954755" y="6364589"/>
              <a:ext cx="1151277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alpino.sh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887025" y="1939353"/>
            <a:ext cx="4044697" cy="92333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alpino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service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alpino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start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alpino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service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alpino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stop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12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57</a:t>
            </a:fld>
            <a:endParaRPr lang="nl-BE"/>
          </a:p>
        </p:txBody>
      </p:sp>
      <p:sp>
        <p:nvSpPr>
          <p:cNvPr id="4" name="TextBox 3"/>
          <p:cNvSpPr txBox="1"/>
          <p:nvPr/>
        </p:nvSpPr>
        <p:spPr>
          <a:xfrm>
            <a:off x="628653" y="2336571"/>
            <a:ext cx="3728906" cy="28931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%files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alpino.sh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init.d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alpino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%post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a+rx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init.d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alpino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–p /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startscript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service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alpino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start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572000" y="2033106"/>
            <a:ext cx="2976736" cy="1293443"/>
            <a:chOff x="4923064" y="2764207"/>
            <a:chExt cx="2976736" cy="1293443"/>
          </a:xfrm>
        </p:grpSpPr>
        <p:sp>
          <p:nvSpPr>
            <p:cNvPr id="6" name="Right Brace 5"/>
            <p:cNvSpPr/>
            <p:nvPr/>
          </p:nvSpPr>
          <p:spPr>
            <a:xfrm>
              <a:off x="4923064" y="3507255"/>
              <a:ext cx="187779" cy="55039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7" name="Straight Connector 6"/>
            <p:cNvCxnSpPr>
              <a:stCxn id="6" idx="1"/>
              <a:endCxn id="8" idx="1"/>
            </p:cNvCxnSpPr>
            <p:nvPr/>
          </p:nvCxnSpPr>
          <p:spPr>
            <a:xfrm flipV="1">
              <a:off x="5110843" y="2948873"/>
              <a:ext cx="791935" cy="8335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902778" y="2764207"/>
              <a:ext cx="199702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Copy service file</a:t>
              </a:r>
              <a:endParaRPr lang="nl-BE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572000" y="3610413"/>
            <a:ext cx="2976736" cy="646331"/>
            <a:chOff x="4923064" y="3507255"/>
            <a:chExt cx="2976736" cy="646331"/>
          </a:xfrm>
        </p:grpSpPr>
        <p:sp>
          <p:nvSpPr>
            <p:cNvPr id="12" name="Right Brace 11"/>
            <p:cNvSpPr/>
            <p:nvPr/>
          </p:nvSpPr>
          <p:spPr>
            <a:xfrm>
              <a:off x="4923064" y="3507255"/>
              <a:ext cx="187779" cy="55039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3" name="Straight Connector 12"/>
            <p:cNvCxnSpPr>
              <a:stCxn id="12" idx="1"/>
              <a:endCxn id="14" idx="1"/>
            </p:cNvCxnSpPr>
            <p:nvPr/>
          </p:nvCxnSpPr>
          <p:spPr>
            <a:xfrm>
              <a:off x="5110843" y="3782453"/>
              <a:ext cx="791935" cy="479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5902778" y="3507255"/>
              <a:ext cx="199702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nl-BE" dirty="0"/>
                <a:t>Set permissions,</a:t>
              </a:r>
              <a:br>
                <a:rPr lang="nl-BE" dirty="0"/>
              </a:br>
              <a:r>
                <a:rPr lang="nl-BE" dirty="0"/>
                <a:t>create mount point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566990" y="4275115"/>
            <a:ext cx="2981746" cy="1124857"/>
            <a:chOff x="4923064" y="3507255"/>
            <a:chExt cx="2981746" cy="1124857"/>
          </a:xfrm>
        </p:grpSpPr>
        <p:sp>
          <p:nvSpPr>
            <p:cNvPr id="20" name="Right Brace 19"/>
            <p:cNvSpPr/>
            <p:nvPr/>
          </p:nvSpPr>
          <p:spPr>
            <a:xfrm>
              <a:off x="4923064" y="3507255"/>
              <a:ext cx="187779" cy="550395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21" name="Straight Connector 20"/>
            <p:cNvCxnSpPr>
              <a:stCxn id="20" idx="1"/>
              <a:endCxn id="22" idx="1"/>
            </p:cNvCxnSpPr>
            <p:nvPr/>
          </p:nvCxnSpPr>
          <p:spPr>
            <a:xfrm>
              <a:off x="5110843" y="3782453"/>
              <a:ext cx="796945" cy="5264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5907788" y="3985781"/>
              <a:ext cx="1997022" cy="6463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nl-BE" dirty="0"/>
                <a:t>Start service in</a:t>
              </a:r>
              <a:br>
                <a:rPr lang="nl-BE" dirty="0"/>
              </a:br>
              <a:r>
                <a:rPr lang="nl-BE" dirty="0"/>
                <a:t>instance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48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instance(s)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instance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Interact with instance…</a:t>
            </a:r>
          </a:p>
          <a:p>
            <a:r>
              <a:rPr lang="en-US" dirty="0"/>
              <a:t>List running instances</a:t>
            </a:r>
          </a:p>
          <a:p>
            <a:endParaRPr lang="en-US" dirty="0"/>
          </a:p>
          <a:p>
            <a:r>
              <a:rPr lang="en-US" dirty="0"/>
              <a:t>Stop instance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58</a:t>
            </a:fld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295917" y="2326534"/>
            <a:ext cx="4596130" cy="1200329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instance start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-B conf_01:/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alpino.sif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BE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alpino_01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917" y="5889877"/>
            <a:ext cx="4596130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instance stop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alpino_01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916" y="4838198"/>
            <a:ext cx="459613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instance list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011827" y="3616411"/>
            <a:ext cx="4393504" cy="863601"/>
            <a:chOff x="4011827" y="3616411"/>
            <a:chExt cx="4393504" cy="863601"/>
          </a:xfrm>
        </p:grpSpPr>
        <p:sp>
          <p:nvSpPr>
            <p:cNvPr id="8" name="TextBox 7"/>
            <p:cNvSpPr txBox="1"/>
            <p:nvPr/>
          </p:nvSpPr>
          <p:spPr>
            <a:xfrm>
              <a:off x="6853881" y="4110680"/>
              <a:ext cx="1551450" cy="36933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Instance name</a:t>
              </a:r>
            </a:p>
          </p:txBody>
        </p:sp>
        <p:cxnSp>
          <p:nvCxnSpPr>
            <p:cNvPr id="10" name="Straight Arrow Connector 9"/>
            <p:cNvCxnSpPr>
              <a:stCxn id="8" idx="1"/>
            </p:cNvCxnSpPr>
            <p:nvPr/>
          </p:nvCxnSpPr>
          <p:spPr>
            <a:xfrm flipH="1" flipV="1">
              <a:off x="4011827" y="3616411"/>
              <a:ext cx="2842054" cy="6789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>
            <a:stCxn id="8" idx="1"/>
          </p:cNvCxnSpPr>
          <p:nvPr/>
        </p:nvCxnSpPr>
        <p:spPr>
          <a:xfrm flipH="1">
            <a:off x="5892048" y="4295346"/>
            <a:ext cx="961833" cy="1478152"/>
          </a:xfrm>
          <a:prstGeom prst="straightConnector1">
            <a:avLst/>
          </a:prstGeom>
          <a:ln w="158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89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4" grpId="0" animBg="1"/>
      <p:bldP spid="6" grpId="0" animBg="1"/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BB9D5-3D2F-E2A6-54D3-7D0BE7EB2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Messing with images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3CF2E-67A5-6245-A3C1-736851DE6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CC56F-7F0E-87F9-6287-DDD6C3DE3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59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63721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6B4D-F191-FAB5-84FA-2020C059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images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B5F68-65BE-F14A-FF70-C17BD4B96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Not possible directly</a:t>
            </a:r>
          </a:p>
          <a:p>
            <a:r>
              <a:rPr lang="en-US" dirty="0"/>
              <a:t>Create sandbox, i.e., directory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Execute command in sandbox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image from sandbox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0F8DF-5034-7D14-DF07-5AC3BDF74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60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FD4E2-2AA7-8BA9-6EB3-58E22E3D66D7}"/>
              </a:ext>
            </a:extLst>
          </p:cNvPr>
          <p:cNvSpPr txBox="1"/>
          <p:nvPr/>
        </p:nvSpPr>
        <p:spPr>
          <a:xfrm>
            <a:off x="1004968" y="2880280"/>
            <a:ext cx="6653132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build  --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fakeroot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./sandbox/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original.sif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6EBAA8-39BC-BA8F-B6B6-8CD450F72FCF}"/>
              </a:ext>
            </a:extLst>
          </p:cNvPr>
          <p:cNvSpPr txBox="1"/>
          <p:nvPr/>
        </p:nvSpPr>
        <p:spPr>
          <a:xfrm>
            <a:off x="1004968" y="4119958"/>
            <a:ext cx="6653132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shell  --writable  --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fakeroot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\</a:t>
            </a:r>
            <a:b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./sandbox/</a:t>
            </a:r>
          </a:p>
          <a:p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apt update</a:t>
            </a:r>
          </a:p>
          <a:p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apt install less</a:t>
            </a:r>
          </a:p>
          <a:p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exit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EE0B36-DA22-CF32-BF23-9992A5B32968}"/>
              </a:ext>
            </a:extLst>
          </p:cNvPr>
          <p:cNvSpPr txBox="1"/>
          <p:nvPr/>
        </p:nvSpPr>
        <p:spPr>
          <a:xfrm>
            <a:off x="1004967" y="5981230"/>
            <a:ext cx="6653132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build  --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fakeroot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new.sif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./sandbox/</a:t>
            </a:r>
          </a:p>
        </p:txBody>
      </p:sp>
    </p:spTree>
    <p:extLst>
      <p:ext uri="{BB962C8B-B14F-4D97-AF65-F5344CB8AC3E}">
        <p14:creationId xmlns:p14="http://schemas.microsoft.com/office/powerpoint/2010/main" val="424173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0DB7C-11AE-733B-4341-58C9F782E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D928F-41B0-6F58-D3D0-5E920553C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Experimentation</a:t>
            </a:r>
          </a:p>
          <a:p>
            <a:r>
              <a:rPr lang="en-US" dirty="0"/>
              <a:t>Debugging</a:t>
            </a:r>
          </a:p>
          <a:p>
            <a:r>
              <a:rPr lang="en-US" dirty="0"/>
              <a:t>Quick hack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Never put image in production!</a:t>
            </a:r>
          </a:p>
          <a:p>
            <a:pPr lvl="1"/>
            <a:r>
              <a:rPr lang="en-US" dirty="0"/>
              <a:t>Update recipe</a:t>
            </a:r>
          </a:p>
          <a:p>
            <a:pPr lvl="1"/>
            <a:r>
              <a:rPr lang="en-US" dirty="0"/>
              <a:t>Unless under DVC control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3B60C-F600-7D76-7D49-B1A227FB1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61</a:t>
            </a:fld>
            <a:endParaRPr lang="nl-B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7E7B5C-5F39-ADE4-B880-70CDAD8F1C17}"/>
              </a:ext>
            </a:extLst>
          </p:cNvPr>
          <p:cNvGrpSpPr/>
          <p:nvPr/>
        </p:nvGrpSpPr>
        <p:grpSpPr>
          <a:xfrm>
            <a:off x="1848100" y="3465295"/>
            <a:ext cx="5740157" cy="1071997"/>
            <a:chOff x="1983182" y="3221684"/>
            <a:chExt cx="5740157" cy="107199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8F5FBEC-0693-6589-1407-9FE85A42D947}"/>
                </a:ext>
              </a:extLst>
            </p:cNvPr>
            <p:cNvSpPr txBox="1"/>
            <p:nvPr/>
          </p:nvSpPr>
          <p:spPr>
            <a:xfrm>
              <a:off x="1983182" y="3708906"/>
              <a:ext cx="5177636" cy="584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Note: this is not reproducible!</a:t>
              </a:r>
              <a:endParaRPr lang="LID4096" sz="3200" dirty="0"/>
            </a:p>
          </p:txBody>
        </p:sp>
        <p:pic>
          <p:nvPicPr>
            <p:cNvPr id="6" name="Graphic 5" descr="Thumbs Down with solid fill">
              <a:extLst>
                <a:ext uri="{FF2B5EF4-FFF2-40B4-BE49-F238E27FC236}">
                  <a16:creationId xmlns:a16="http://schemas.microsoft.com/office/drawing/2014/main" id="{B40581C5-960E-6996-23AA-AE9C653BBC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748896" y="3221684"/>
              <a:ext cx="974443" cy="9744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95008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A64E-125A-13B8-EE70-A0FD13EBE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Overlays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03810-130E-633C-32BC-9C989CF6D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Clean(er) modifications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with overlay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FE116-9E8E-706C-0636-D404B0FBE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62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751BA-A2DF-A2AF-FC0F-8AFC2F0CBDD9}"/>
              </a:ext>
            </a:extLst>
          </p:cNvPr>
          <p:cNvSpPr txBox="1"/>
          <p:nvPr/>
        </p:nvSpPr>
        <p:spPr>
          <a:xfrm>
            <a:off x="1004968" y="2395068"/>
            <a:ext cx="6653132" cy="258532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overlay/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shell  --overlay overlay/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--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fakeroot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\</a:t>
            </a:r>
            <a:b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r_base.sif</a:t>
            </a:r>
            <a:b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R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Symbol" panose="05050102010706020507" pitchFamily="18" charset="2"/>
              </a:rPr>
              <a:t>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Rcpp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  <a:b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q()</a:t>
            </a:r>
          </a:p>
          <a:p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exit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10250-19A1-94C7-51D7-B033B83EC9A0}"/>
              </a:ext>
            </a:extLst>
          </p:cNvPr>
          <p:cNvSpPr txBox="1"/>
          <p:nvPr/>
        </p:nvSpPr>
        <p:spPr>
          <a:xfrm>
            <a:off x="1004968" y="5892582"/>
            <a:ext cx="6653132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shell  --overlay overlay/: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\</a:t>
            </a:r>
          </a:p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r_base.sif</a:t>
            </a:r>
            <a:endParaRPr lang="en-US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A5F4F1-87B2-20B6-97E5-05B88C95B7A9}"/>
              </a:ext>
            </a:extLst>
          </p:cNvPr>
          <p:cNvGrpSpPr/>
          <p:nvPr/>
        </p:nvGrpSpPr>
        <p:grpSpPr>
          <a:xfrm>
            <a:off x="6286500" y="5161300"/>
            <a:ext cx="2521464" cy="1054052"/>
            <a:chOff x="5344359" y="2404456"/>
            <a:chExt cx="2521464" cy="1054052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28CD972-E4D5-FFE7-A771-60246BAB7AC7}"/>
                </a:ext>
              </a:extLst>
            </p:cNvPr>
            <p:cNvSpPr/>
            <p:nvPr/>
          </p:nvSpPr>
          <p:spPr>
            <a:xfrm>
              <a:off x="5344359" y="3165266"/>
              <a:ext cx="384466" cy="293242"/>
            </a:xfrm>
            <a:prstGeom prst="roundRect">
              <a:avLst/>
            </a:prstGeom>
            <a:solidFill>
              <a:srgbClr val="FF0000">
                <a:alpha val="4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13FE97-96BD-28EB-457B-385B2FB6CA20}"/>
                </a:ext>
              </a:extLst>
            </p:cNvPr>
            <p:cNvSpPr txBox="1"/>
            <p:nvPr/>
          </p:nvSpPr>
          <p:spPr>
            <a:xfrm>
              <a:off x="6715959" y="2404456"/>
              <a:ext cx="1149864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Read-only</a:t>
              </a:r>
              <a:endParaRPr lang="en-BE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212D4D2-228E-4590-9042-01A4A7302DDE}"/>
                </a:ext>
              </a:extLst>
            </p:cNvPr>
            <p:cNvCxnSpPr>
              <a:cxnSpLocks/>
              <a:stCxn id="9" idx="1"/>
              <a:endCxn id="8" idx="3"/>
            </p:cNvCxnSpPr>
            <p:nvPr/>
          </p:nvCxnSpPr>
          <p:spPr>
            <a:xfrm flipH="1">
              <a:off x="5728825" y="2589122"/>
              <a:ext cx="987134" cy="722765"/>
            </a:xfrm>
            <a:prstGeom prst="straightConnector1">
              <a:avLst/>
            </a:prstGeom>
            <a:ln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190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&amp; best practices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63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218284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Apptainer</a:t>
            </a:r>
            <a:r>
              <a:rPr lang="en-US" dirty="0"/>
              <a:t> overhead</a:t>
            </a:r>
            <a:endParaRPr lang="nl-BE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Startup of image</a:t>
            </a:r>
            <a:r>
              <a:rPr lang="en-US" dirty="0">
                <a:sym typeface="Symbol" panose="05050102010706020507" pitchFamily="18" charset="2"/>
              </a:rPr>
              <a:t>  0.4</a:t>
            </a:r>
            <a:r>
              <a:rPr lang="en-US" dirty="0"/>
              <a:t> s</a:t>
            </a:r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Serial code/</a:t>
            </a:r>
            <a:r>
              <a:rPr lang="en-US" dirty="0" err="1"/>
              <a:t>OpenMP</a:t>
            </a:r>
            <a:r>
              <a:rPr lang="en-US" dirty="0"/>
              <a:t> (computing </a:t>
            </a:r>
            <a:r>
              <a:rPr lang="en-US" dirty="0">
                <a:sym typeface="Symbol" panose="05050102010706020507" pitchFamily="18" charset="2"/>
              </a:rPr>
              <a:t>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Overhead for </a:t>
            </a:r>
            <a:r>
              <a:rPr lang="en-US" dirty="0" err="1"/>
              <a:t>walltime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 </a:t>
            </a:r>
            <a:r>
              <a:rPr lang="en-US" dirty="0"/>
              <a:t>20 seconds: &lt; 0.85 %</a:t>
            </a:r>
          </a:p>
          <a:p>
            <a:pPr lvl="1"/>
            <a:r>
              <a:rPr lang="en-US" dirty="0"/>
              <a:t>Overhead for </a:t>
            </a:r>
            <a:r>
              <a:rPr lang="en-US" dirty="0" err="1"/>
              <a:t>walltime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 </a:t>
            </a:r>
            <a:r>
              <a:rPr lang="en-US" dirty="0"/>
              <a:t>3 minutes:   &lt; 0.70 %</a:t>
            </a:r>
          </a:p>
          <a:p>
            <a:pPr lvl="1"/>
            <a:r>
              <a:rPr lang="en-US" dirty="0"/>
              <a:t>(Almost) independent of number of threads</a:t>
            </a:r>
          </a:p>
          <a:p>
            <a:r>
              <a:rPr lang="en-US" dirty="0"/>
              <a:t>MPI (computing SVD, matrix product)</a:t>
            </a:r>
          </a:p>
          <a:p>
            <a:pPr lvl="1"/>
            <a:r>
              <a:rPr lang="en-US" dirty="0"/>
              <a:t>PDGESVD: 7 % for 16 processes, 24 % for 64 processes</a:t>
            </a:r>
          </a:p>
          <a:p>
            <a:pPr lvl="1"/>
            <a:r>
              <a:rPr lang="en-US" dirty="0"/>
              <a:t>PDGEMM: &lt; 1 % for 16 processes, 10 % for 64 processes</a:t>
            </a:r>
          </a:p>
          <a:p>
            <a:pPr lvl="1"/>
            <a:r>
              <a:rPr lang="en-US" dirty="0"/>
              <a:t>However, serial GESVD: 10 % </a:t>
            </a:r>
          </a:p>
          <a:p>
            <a:pPr lvl="1"/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64</a:t>
            </a:fld>
            <a:endParaRPr lang="nl-BE"/>
          </a:p>
        </p:txBody>
      </p:sp>
      <p:sp>
        <p:nvSpPr>
          <p:cNvPr id="7" name="TextBox 6"/>
          <p:cNvSpPr txBox="1"/>
          <p:nvPr/>
        </p:nvSpPr>
        <p:spPr>
          <a:xfrm>
            <a:off x="1551214" y="2245862"/>
            <a:ext cx="510280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 w</a:t>
            </a:r>
            <a:r>
              <a:rPr lang="en-US" sz="2400" dirty="0"/>
              <a:t>orkflow with many short runtimes:</a:t>
            </a:r>
            <a:br>
              <a:rPr lang="en-US" sz="2400" dirty="0"/>
            </a:br>
            <a:r>
              <a:rPr lang="en-US" sz="2400" dirty="0"/>
              <a:t>                        </a:t>
            </a:r>
            <a:r>
              <a:rPr lang="en-US" sz="2400" b="1" dirty="0">
                <a:solidFill>
                  <a:srgbClr val="C00000"/>
                </a:solidFill>
              </a:rPr>
              <a:t>entirely in image</a:t>
            </a:r>
            <a:endParaRPr lang="nl-BE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77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Apptainer</a:t>
            </a:r>
            <a:r>
              <a:rPr lang="en-US" dirty="0"/>
              <a:t> performance pitfalls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non-optimized libraries/applications</a:t>
            </a:r>
          </a:p>
          <a:p>
            <a:pPr lvl="1"/>
            <a:r>
              <a:rPr lang="en-US" dirty="0"/>
              <a:t>Compilation can/should target specific hardware,</a:t>
            </a:r>
            <a:br>
              <a:rPr lang="en-US" dirty="0"/>
            </a:br>
            <a:r>
              <a:rPr lang="en-US" dirty="0"/>
              <a:t>e.g.,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xHost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Performance loss up to 10-40 %</a:t>
            </a:r>
            <a:endParaRPr lang="en-US" dirty="0">
              <a:sym typeface="Symbol" panose="05050102010706020507" pitchFamily="18" charset="2"/>
            </a:endParaRPr>
          </a:p>
          <a:p>
            <a:pPr lvl="1"/>
            <a:r>
              <a:rPr lang="en-US" dirty="0">
                <a:sym typeface="Symbol" panose="05050102010706020507" pitchFamily="18" charset="2"/>
              </a:rPr>
              <a:t>Crucial for BLAS, propagates to other scientific libraries, e.g., LAPACK, </a:t>
            </a:r>
            <a:r>
              <a:rPr lang="en-US" dirty="0" err="1">
                <a:sym typeface="Symbol" panose="05050102010706020507" pitchFamily="18" charset="2"/>
              </a:rPr>
              <a:t>PETSc</a:t>
            </a:r>
            <a:r>
              <a:rPr lang="en-US" dirty="0">
                <a:sym typeface="Symbol" panose="05050102010706020507" pitchFamily="18" charset="2"/>
              </a:rPr>
              <a:t>,…</a:t>
            </a:r>
          </a:p>
          <a:p>
            <a:pPr lvl="1"/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65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1586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best practices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software in default location, not home directory</a:t>
            </a:r>
          </a:p>
          <a:p>
            <a:r>
              <a:rPr lang="en-US" dirty="0"/>
              <a:t>Define environment variables in image's </a:t>
            </a:r>
            <a:r>
              <a:rPr lang="en-BE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environment</a:t>
            </a:r>
          </a:p>
          <a:p>
            <a:r>
              <a:rPr lang="en-US" dirty="0"/>
              <a:t>Files should be owned by system account, not user</a:t>
            </a:r>
          </a:p>
          <a:p>
            <a:r>
              <a:rPr lang="en-US" dirty="0"/>
              <a:t>Don’t mess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/passwd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/group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/shadow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66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2843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96A11-743F-3418-55CD-B23D1530E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Reproducibility best practices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9AE57-B6A1-417C-8590-DD0F521EA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installation via recipe file, </a:t>
            </a:r>
            <a:r>
              <a:rPr lang="en-US" i="1" dirty="0"/>
              <a:t>not</a:t>
            </a:r>
            <a:r>
              <a:rPr lang="en-US" dirty="0"/>
              <a:t> by hand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latest</a:t>
            </a:r>
            <a:r>
              <a:rPr lang="en-US" dirty="0"/>
              <a:t> docker tag</a:t>
            </a:r>
          </a:p>
          <a:p>
            <a:pPr lvl="1"/>
            <a:r>
              <a:rPr lang="en-US" dirty="0"/>
              <a:t>May/will be newer version when rebuild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Consider version control of images using DVC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4A0BC-4A57-EE44-9251-EE3AA0852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67</a:t>
            </a:fld>
            <a:endParaRPr lang="nl-B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F09970-B72E-0A7E-1BFB-AB48A9E79249}"/>
              </a:ext>
            </a:extLst>
          </p:cNvPr>
          <p:cNvGrpSpPr/>
          <p:nvPr/>
        </p:nvGrpSpPr>
        <p:grpSpPr>
          <a:xfrm>
            <a:off x="2338088" y="3280231"/>
            <a:ext cx="4119862" cy="1691998"/>
            <a:chOff x="2473170" y="3342577"/>
            <a:chExt cx="4119862" cy="169199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8BD1CC-BA3E-4B10-9B90-002365785CC3}"/>
                </a:ext>
              </a:extLst>
            </p:cNvPr>
            <p:cNvSpPr txBox="1"/>
            <p:nvPr/>
          </p:nvSpPr>
          <p:spPr>
            <a:xfrm>
              <a:off x="2473170" y="3834246"/>
              <a:ext cx="3600409" cy="120032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git version control of recipe</a:t>
              </a:r>
            </a:p>
            <a:p>
              <a:pPr algn="ctr"/>
              <a:r>
                <a:rPr lang="en-US" sz="2400" dirty="0">
                  <a:sym typeface="Symbol" panose="05050102010706020507" pitchFamily="18" charset="2"/>
                </a:rPr>
                <a:t></a:t>
              </a:r>
              <a:endParaRPr lang="en-US" sz="2400" dirty="0"/>
            </a:p>
            <a:p>
              <a:pPr algn="ctr"/>
              <a:r>
                <a:rPr lang="en-US" sz="2400" dirty="0"/>
                <a:t>reproducibility</a:t>
              </a:r>
              <a:endParaRPr lang="LID4096" sz="2400" dirty="0"/>
            </a:p>
          </p:txBody>
        </p:sp>
        <p:pic>
          <p:nvPicPr>
            <p:cNvPr id="6" name="Picture 2" descr="C:\Users\lucg5005\AppData\Local\Microsoft\Windows\Temporary Internet Files\Content.IE5\CWZUAEH4\lgi01a201309290600[1].jpg">
              <a:extLst>
                <a:ext uri="{FF2B5EF4-FFF2-40B4-BE49-F238E27FC236}">
                  <a16:creationId xmlns:a16="http://schemas.microsoft.com/office/drawing/2014/main" id="{954D8D68-5AAA-A1D6-52C9-04B0D98DD1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7691" y="3342577"/>
              <a:ext cx="695341" cy="7134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2413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nl-B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68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927218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Apptainer</a:t>
            </a:r>
            <a:r>
              <a:rPr lang="en-US" dirty="0"/>
              <a:t> advantages</a:t>
            </a:r>
          </a:p>
          <a:p>
            <a:pPr lvl="1"/>
            <a:r>
              <a:rPr lang="en-US" dirty="0"/>
              <a:t>Portability</a:t>
            </a:r>
          </a:p>
          <a:p>
            <a:pPr lvl="1"/>
            <a:r>
              <a:rPr lang="en-US" dirty="0"/>
              <a:t>Reproducibility: recipes under version control</a:t>
            </a:r>
          </a:p>
          <a:p>
            <a:pPr lvl="1"/>
            <a:r>
              <a:rPr lang="en-US" dirty="0"/>
              <a:t>Easily create images</a:t>
            </a:r>
          </a:p>
          <a:p>
            <a:pPr lvl="1"/>
            <a:r>
              <a:rPr lang="en-US" dirty="0"/>
              <a:t>Integrate images into existing workflows</a:t>
            </a:r>
          </a:p>
          <a:p>
            <a:pPr lvl="1"/>
            <a:r>
              <a:rPr lang="en-US" dirty="0"/>
              <a:t>No privilege escalation</a:t>
            </a:r>
          </a:p>
          <a:p>
            <a:pPr lvl="2"/>
            <a:r>
              <a:rPr lang="en-US" dirty="0"/>
              <a:t>Create as root</a:t>
            </a:r>
          </a:p>
          <a:p>
            <a:pPr lvl="2"/>
            <a:r>
              <a:rPr lang="en-US" dirty="0"/>
              <a:t>Run as user, no </a:t>
            </a:r>
            <a:r>
              <a:rPr lang="en-US" dirty="0" err="1"/>
              <a:t>sudo</a:t>
            </a:r>
            <a:r>
              <a:rPr lang="en-US" dirty="0"/>
              <a:t> possible</a:t>
            </a:r>
          </a:p>
          <a:p>
            <a:pPr lvl="1"/>
            <a:r>
              <a:rPr lang="en-US" dirty="0"/>
              <a:t>Quite reasonable performance/overhead</a:t>
            </a:r>
          </a:p>
          <a:p>
            <a:r>
              <a:rPr lang="en-US" dirty="0"/>
              <a:t>Not an excuse to run crappy/suboptimal software!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69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3880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Apptainer</a:t>
            </a:r>
            <a:r>
              <a:rPr lang="en-US" dirty="0"/>
              <a:t> documentation</a:t>
            </a:r>
            <a:br>
              <a:rPr lang="en-US" dirty="0"/>
            </a:br>
            <a:r>
              <a:rPr lang="en-US" dirty="0">
                <a:hlinkClick r:id="rId2"/>
              </a:rPr>
              <a:t>https://apptainer.org/docs/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User guide</a:t>
            </a:r>
          </a:p>
          <a:p>
            <a:pPr lvl="1"/>
            <a:r>
              <a:rPr lang="en-US" dirty="0"/>
              <a:t>Admin guide</a:t>
            </a:r>
          </a:p>
          <a:p>
            <a:r>
              <a:rPr lang="en-US" dirty="0" err="1"/>
              <a:t>Apptainer</a:t>
            </a:r>
            <a:r>
              <a:rPr lang="en-US" dirty="0"/>
              <a:t> GitHub repository</a:t>
            </a:r>
            <a:br>
              <a:rPr lang="en-US" dirty="0"/>
            </a:br>
            <a:r>
              <a:rPr lang="en-US" dirty="0">
                <a:hlinkClick r:id="rId3"/>
              </a:rPr>
              <a:t>https://github.com/apptainer/apptainer</a:t>
            </a:r>
            <a:r>
              <a:rPr lang="en-US" dirty="0"/>
              <a:t> </a:t>
            </a:r>
          </a:p>
          <a:p>
            <a:r>
              <a:rPr lang="en-US" dirty="0" err="1"/>
              <a:t>hpccm</a:t>
            </a:r>
            <a:br>
              <a:rPr lang="en-US" dirty="0"/>
            </a:br>
            <a:r>
              <a:rPr lang="en-US" dirty="0">
                <a:hlinkClick r:id="rId4"/>
              </a:rPr>
              <a:t>https://github.com/NVIDIA/hpc-container-maker</a:t>
            </a:r>
            <a:r>
              <a:rPr lang="en-US" dirty="0"/>
              <a:t> </a:t>
            </a:r>
          </a:p>
          <a:p>
            <a:r>
              <a:rPr lang="en-US" dirty="0" err="1"/>
              <a:t>hpccm</a:t>
            </a:r>
            <a:r>
              <a:rPr lang="en-US" dirty="0"/>
              <a:t> primitives</a:t>
            </a:r>
            <a:br>
              <a:rPr lang="en-US" dirty="0"/>
            </a:br>
            <a:r>
              <a:rPr lang="en-US" sz="2600" dirty="0">
                <a:hlinkClick r:id="rId5"/>
              </a:rPr>
              <a:t>https://github.com/NVIDIA/hpc-container-maker/blob/master/docs/primitives.md</a:t>
            </a:r>
            <a:endParaRPr lang="en-US" dirty="0"/>
          </a:p>
          <a:p>
            <a:r>
              <a:rPr lang="en-US" dirty="0" err="1"/>
              <a:t>hpccm</a:t>
            </a:r>
            <a:r>
              <a:rPr lang="en-US" dirty="0"/>
              <a:t> building block (software packages)</a:t>
            </a:r>
            <a:br>
              <a:rPr lang="en-US" dirty="0"/>
            </a:br>
            <a:r>
              <a:rPr lang="en-US" sz="2600" dirty="0">
                <a:hlinkClick r:id="rId6"/>
              </a:rPr>
              <a:t>https://github.com/NVIDIA/hpc-container-maker/blob/master/docs/building_blocks.md</a:t>
            </a:r>
            <a:r>
              <a:rPr lang="en-US" dirty="0"/>
              <a:t> </a:t>
            </a:r>
            <a:endParaRPr lang="en-US" dirty="0">
              <a:hlinkClick r:id="rId7"/>
            </a:endParaRPr>
          </a:p>
          <a:p>
            <a:r>
              <a:rPr lang="en-US" dirty="0" err="1">
                <a:hlinkClick r:id="rId7"/>
              </a:rPr>
              <a:t>HPCWired</a:t>
            </a:r>
            <a:r>
              <a:rPr lang="en-US" dirty="0">
                <a:hlinkClick r:id="rId7"/>
              </a:rPr>
              <a:t> article</a:t>
            </a:r>
            <a:r>
              <a:rPr lang="en-US" dirty="0"/>
              <a:t> discussing singularity versus Docker/Shifter</a:t>
            </a:r>
          </a:p>
          <a:p>
            <a:r>
              <a:rPr lang="en-US" dirty="0"/>
              <a:t>DVC (Data Version Control)</a:t>
            </a:r>
            <a:br>
              <a:rPr lang="en-US" dirty="0"/>
            </a:br>
            <a:r>
              <a:rPr lang="en-US" dirty="0">
                <a:hlinkClick r:id="rId8"/>
              </a:rPr>
              <a:t>https://dvc.org/</a:t>
            </a:r>
            <a:r>
              <a:rPr lang="en-US" dirty="0"/>
              <a:t> 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70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45009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091AECB-7A4E-4CDD-8034-431325CB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podman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E58A0E-B656-4AC9-956C-A89EE4C1B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170FA-B818-48CB-9A82-774DAE2F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71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7090756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EDB9E8-B663-4F3A-A21B-A8783B115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I want docker…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BF7E2-9ACC-4E8B-B122-38ECC9918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podman</a:t>
            </a:r>
            <a:endParaRPr lang="en-US" dirty="0"/>
          </a:p>
          <a:p>
            <a:pPr lvl="1"/>
            <a:r>
              <a:rPr lang="en-US" dirty="0"/>
              <a:t>Can build containers without </a:t>
            </a:r>
            <a:r>
              <a:rPr lang="en-US" dirty="0" err="1"/>
              <a:t>sudo</a:t>
            </a:r>
            <a:endParaRPr lang="en-US" dirty="0"/>
          </a:p>
          <a:p>
            <a:pPr lvl="1"/>
            <a:r>
              <a:rPr lang="en-US" dirty="0"/>
              <a:t>Can run rootless containers</a:t>
            </a:r>
          </a:p>
          <a:p>
            <a:pPr lvl="2"/>
            <a:r>
              <a:rPr lang="en-US" dirty="0"/>
              <a:t>No daemon</a:t>
            </a:r>
          </a:p>
          <a:p>
            <a:pPr lvl="1"/>
            <a:r>
              <a:rPr lang="en-US" dirty="0"/>
              <a:t>Same commands as 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4113E-F77B-43C6-BF67-2394DEA65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72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54375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empty image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Initially, empty image</a:t>
            </a:r>
          </a:p>
          <a:p>
            <a:r>
              <a:rPr lang="en-US" dirty="0"/>
              <a:t>Creation done with </a:t>
            </a:r>
            <a:r>
              <a:rPr lang="en-US" dirty="0" err="1"/>
              <a:t>sudo</a:t>
            </a:r>
            <a:endParaRPr lang="en-US" dirty="0"/>
          </a:p>
          <a:p>
            <a:endParaRPr lang="en-US" dirty="0"/>
          </a:p>
          <a:p>
            <a:r>
              <a:rPr lang="en-US" dirty="0"/>
              <a:t>Maximum size (in </a:t>
            </a:r>
            <a:r>
              <a:rPr lang="en-US" dirty="0" err="1"/>
              <a:t>MiB</a:t>
            </a:r>
            <a:r>
              <a:rPr lang="en-US" dirty="0"/>
              <a:t>) of the image</a:t>
            </a:r>
          </a:p>
          <a:p>
            <a:pPr lvl="1"/>
            <a:r>
              <a:rPr lang="en-US" dirty="0"/>
              <a:t>Can be resized later, if necessary</a:t>
            </a:r>
          </a:p>
          <a:p>
            <a:endParaRPr lang="en-US" dirty="0"/>
          </a:p>
          <a:p>
            <a:r>
              <a:rPr lang="en-US" dirty="0"/>
              <a:t>File system created "inside" image</a:t>
            </a:r>
            <a:endParaRPr lang="nl-BE" dirty="0"/>
          </a:p>
        </p:txBody>
      </p:sp>
      <p:sp>
        <p:nvSpPr>
          <p:cNvPr id="4" name="TextBox 3"/>
          <p:cNvSpPr txBox="1"/>
          <p:nvPr/>
        </p:nvSpPr>
        <p:spPr>
          <a:xfrm>
            <a:off x="1004208" y="2898322"/>
            <a:ext cx="721543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image.create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--size 2048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grace.sif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4208" y="4340351"/>
            <a:ext cx="721543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apptainer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image.expand</a:t>
            </a:r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--size 1024 </a:t>
            </a:r>
            <a:r>
              <a:rPr lang="en-US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grace.sif</a:t>
            </a:r>
            <a:endParaRPr lang="nl-BE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F399F-E3B5-4890-BC79-9BC8D4DF3F2D}" type="slidenum">
              <a:rPr lang="nl-BE" smtClean="0"/>
              <a:t>73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952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2805</TotalTime>
  <Words>3698</Words>
  <Application>Microsoft Office PowerPoint</Application>
  <PresentationFormat>On-screen Show (4:3)</PresentationFormat>
  <Paragraphs>795</Paragraphs>
  <Slides>73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9" baseType="lpstr">
      <vt:lpstr>Arial</vt:lpstr>
      <vt:lpstr>Calibri</vt:lpstr>
      <vt:lpstr>Calibri Light</vt:lpstr>
      <vt:lpstr>Courier New</vt:lpstr>
      <vt:lpstr>Symbol</vt:lpstr>
      <vt:lpstr>Office Theme</vt:lpstr>
      <vt:lpstr>Containers for HPC</vt:lpstr>
      <vt:lpstr>PowerPoint Presentation</vt:lpstr>
      <vt:lpstr>PowerPoint Presentation</vt:lpstr>
      <vt:lpstr>Typographical conventions I</vt:lpstr>
      <vt:lpstr>Typographical conventions II</vt:lpstr>
      <vt:lpstr>Introduction</vt:lpstr>
      <vt:lpstr>Introduction</vt:lpstr>
      <vt:lpstr>Motivation</vt:lpstr>
      <vt:lpstr>Apptainer architecture</vt:lpstr>
      <vt:lpstr>Apptainer image</vt:lpstr>
      <vt:lpstr>Installing apptainer</vt:lpstr>
      <vt:lpstr>Creating images</vt:lpstr>
      <vt:lpstr>Recipe file: bootstrap from distro</vt:lpstr>
      <vt:lpstr>Recipe file: bootstrap from docker</vt:lpstr>
      <vt:lpstr>Recipe file: preparing install</vt:lpstr>
      <vt:lpstr>Recipe file: %post</vt:lpstr>
      <vt:lpstr>Recipe file: applications</vt:lpstr>
      <vt:lpstr>Recipe file: tests &amp; help</vt:lpstr>
      <vt:lpstr>Recipe file: meta-info</vt:lpstr>
      <vt:lpstr>Recipe file: (almost) complete</vt:lpstr>
      <vt:lpstr>Build image</vt:lpstr>
      <vt:lpstr>Parametrized recipes</vt:lpstr>
      <vt:lpstr>Gotchas on HPC</vt:lpstr>
      <vt:lpstr>Gotcha: temporary directory</vt:lpstr>
      <vt:lpstr>Gotcha: cache directory</vt:lpstr>
      <vt:lpstr>Example job script</vt:lpstr>
      <vt:lpstr>Image types</vt:lpstr>
      <vt:lpstr>Multistage builds</vt:lpstr>
      <vt:lpstr>Remote builds</vt:lpstr>
      <vt:lpstr>Other options</vt:lpstr>
      <vt:lpstr>NVIDIA hpccm</vt:lpstr>
      <vt:lpstr>And one more thing…</vt:lpstr>
      <vt:lpstr>hpccm recipe</vt:lpstr>
      <vt:lpstr>hpccm to docker/singularity</vt:lpstr>
      <vt:lpstr>hpccm gotchas</vt:lpstr>
      <vt:lpstr>hpccm recipe parametrization</vt:lpstr>
      <vt:lpstr>Using images</vt:lpstr>
      <vt:lpstr>Run container/execute commands</vt:lpstr>
      <vt:lpstr>Integration in workflow</vt:lpstr>
      <vt:lpstr>Image shell</vt:lpstr>
      <vt:lpstr>Directory bindings</vt:lpstr>
      <vt:lpstr>Development</vt:lpstr>
      <vt:lpstr>Boon for developers</vt:lpstr>
      <vt:lpstr>Base images</vt:lpstr>
      <vt:lpstr>Multithreaded applications</vt:lpstr>
      <vt:lpstr>Example recipe file</vt:lpstr>
      <vt:lpstr>Running OpenMP application</vt:lpstr>
      <vt:lpstr>Distributed applications</vt:lpstr>
      <vt:lpstr>Example recipe file</vt:lpstr>
      <vt:lpstr>Running MPI application</vt:lpstr>
      <vt:lpstr>GPU applications</vt:lpstr>
      <vt:lpstr>Using GPUs</vt:lpstr>
      <vt:lpstr>Developing on GPUs</vt:lpstr>
      <vt:lpstr>Services</vt:lpstr>
      <vt:lpstr>Server processes</vt:lpstr>
      <vt:lpstr>Define service</vt:lpstr>
      <vt:lpstr>Recipe</vt:lpstr>
      <vt:lpstr>Run instance(s)</vt:lpstr>
      <vt:lpstr>Messing with images</vt:lpstr>
      <vt:lpstr>Modifying images</vt:lpstr>
      <vt:lpstr>Use cases</vt:lpstr>
      <vt:lpstr>Overlays</vt:lpstr>
      <vt:lpstr>Performance &amp; best practices</vt:lpstr>
      <vt:lpstr>Apptainer overhead</vt:lpstr>
      <vt:lpstr>Apptainer performance pitfalls</vt:lpstr>
      <vt:lpstr>Bootstrap best practices</vt:lpstr>
      <vt:lpstr>Reproducibility best practices</vt:lpstr>
      <vt:lpstr>Conclusions</vt:lpstr>
      <vt:lpstr>Conclusions</vt:lpstr>
      <vt:lpstr>References</vt:lpstr>
      <vt:lpstr>podman</vt:lpstr>
      <vt:lpstr>But I want docker…</vt:lpstr>
      <vt:lpstr>Create empty image</vt:lpstr>
    </vt:vector>
  </TitlesOfParts>
  <Company>KU Leuven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singularity is near!</dc:title>
  <dc:creator>Geert Jan Bex</dc:creator>
  <cp:lastModifiedBy>Geert Jan Bex</cp:lastModifiedBy>
  <cp:revision>173</cp:revision>
  <dcterms:created xsi:type="dcterms:W3CDTF">2016-10-25T08:52:29Z</dcterms:created>
  <dcterms:modified xsi:type="dcterms:W3CDTF">2026-10-02T12:50:40Z</dcterms:modified>
</cp:coreProperties>
</file>